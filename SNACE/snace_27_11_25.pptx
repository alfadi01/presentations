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78" r:id="rId1"/>
  </p:sldMasterIdLst>
  <p:notesMasterIdLst>
    <p:notesMasterId r:id="rId28"/>
  </p:notesMasterIdLst>
  <p:sldIdLst>
    <p:sldId id="256" r:id="rId2"/>
    <p:sldId id="259" r:id="rId3"/>
    <p:sldId id="313" r:id="rId4"/>
    <p:sldId id="314" r:id="rId5"/>
    <p:sldId id="315" r:id="rId6"/>
    <p:sldId id="285" r:id="rId7"/>
    <p:sldId id="321" r:id="rId8"/>
    <p:sldId id="283" r:id="rId9"/>
    <p:sldId id="318" r:id="rId10"/>
    <p:sldId id="270" r:id="rId11"/>
    <p:sldId id="281" r:id="rId12"/>
    <p:sldId id="282" r:id="rId13"/>
    <p:sldId id="286" r:id="rId14"/>
    <p:sldId id="295" r:id="rId15"/>
    <p:sldId id="328" r:id="rId16"/>
    <p:sldId id="297" r:id="rId17"/>
    <p:sldId id="319" r:id="rId18"/>
    <p:sldId id="320" r:id="rId19"/>
    <p:sldId id="322" r:id="rId20"/>
    <p:sldId id="323" r:id="rId21"/>
    <p:sldId id="324" r:id="rId22"/>
    <p:sldId id="325" r:id="rId23"/>
    <p:sldId id="326" r:id="rId24"/>
    <p:sldId id="327" r:id="rId25"/>
    <p:sldId id="329" r:id="rId26"/>
    <p:sldId id="330" r:id="rId2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574AB2-8CDB-9547-A1ED-CC415342663E}" v="14" dt="2025-06-12T07:40:56.759"/>
  </p1510:revLst>
</p1510:revInfo>
</file>

<file path=ppt/tableStyles.xml><?xml version="1.0" encoding="utf-8"?>
<a:tblStyleLst xmlns:a="http://schemas.openxmlformats.org/drawingml/2006/main" def="{38246F09-B46D-4B76-A7F2-69F4525598FB}">
  <a:tblStyle styleId="{38246F09-B46D-4B76-A7F2-69F4525598F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37"/>
    <p:restoredTop sz="94643"/>
  </p:normalViewPr>
  <p:slideViewPr>
    <p:cSldViewPr snapToGrid="0">
      <p:cViewPr>
        <p:scale>
          <a:sx n="198" d="100"/>
          <a:sy n="198" d="100"/>
        </p:scale>
        <p:origin x="200" y="4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68ca7ef4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68ca7ef4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77E22A4D-E975-E7ED-2802-23A6BB834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4F16D520-6B74-CF7A-8E17-751B11A553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97E7AC25-3852-A5E9-2344-477C648233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7362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3DECD784-24F2-FE9C-4444-95FC25A8A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522E5692-91F3-3E2F-FD64-64504DB84E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212BFE57-14DE-A499-10BC-3239FA7968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1616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94B5B4DA-3DA2-44E2-5E27-E4C948577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ADA9E49C-E308-A494-C4FC-C4768FE22D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795B1A9E-4FB2-0FBF-09A8-C3FAEC72EC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2930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FCC58C32-DA83-3464-14C1-116F36A8A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2AA9903E-CC05-6B6C-6A9A-13909FC85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6CE282E7-02A3-7CB6-35D8-4CC6FE2AFF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667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3A1F0473-39AF-18E3-466D-0A937B568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BD32D8FF-1124-8797-1BF7-C96B4CF0AF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91F7193D-3CF7-061F-4050-7AC1DA841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3649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061EC68B-7E45-7674-BA29-64BA88A6D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3163FC43-ACC3-5226-EB62-873E81652D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FFD5331E-FA90-CF39-090A-2B84EFF243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112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89A5153E-E16D-1883-3046-4FC03C9E5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4F5E20AC-B3A4-7BBD-6F72-62A92DDEBA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8D1CEAAF-2226-3D0A-BE09-1323488CAA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7314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dd46dd1d67_2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dd46dd1d67_2_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D1DAB959-50BE-2966-BB15-7DD09296E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3F8AA27E-57A1-72C2-E7B8-324A35BE93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70210180-87AA-082C-1442-87D81BA9FD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29937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A30A679F-AE58-2281-9F74-05BDBD6AF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197266F3-2516-7110-1278-1812FB2CCF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B9D41679-8F13-1D8A-21AB-7A79BEE823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56341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2DFF0AFA-206F-9AF6-6C10-22E210264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067365D6-D456-E3F4-CD56-2D1783C9CB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54527594-01BE-A53E-A27F-0D9A5D067E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2073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B29F6CD9-47B5-8A3C-AE5B-3A07E0C15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06A8C9AD-4196-9B23-2D91-BFCD04D86D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635CFE0F-49D8-FD2B-3745-CF8B8287E0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95970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F4C66F9D-FA7A-1E24-1592-4B8506269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AE781563-B61E-4C36-818D-E7E7BCDC77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69B586D5-2B7D-E72F-5944-0B64AE20E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28389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40BF76BC-0795-E61F-BF50-8F2953BDA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2F5641C6-D1FA-2519-0BC7-1121B41F22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614C4B89-41D5-A01A-6D22-58A77DE9BF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30392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FC20C4BD-802A-976F-6C7A-A8C7D5E2F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CB5392E1-64FE-E64A-6616-ED90CF88EA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BA511590-B2FF-C1F4-5494-A6B2001723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03425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C6EB0540-B0F3-CC3B-F6DA-94A521CAE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9B11AE70-EE17-7D24-F63A-093501326D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13F20DE9-1B25-4D63-9ACD-6729198064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12308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99EA45B4-00EE-A979-6B82-0E557A82C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5CA3C5A6-1302-55A1-737E-3C71991F08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5AF7814B-EA4D-CF7A-F679-7C09E32122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41595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1565C744-A56E-420F-70FA-96C151980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8C983B0A-7FB9-106B-A2BC-36ECC344E4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C442ECF8-9F7F-811D-6140-8EAD84D7E4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80756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C7C1EA72-F6F6-128F-6FA3-A53E47A08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2FE29734-EBDA-19E8-AA56-7F9433E385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6A526AF9-E751-5452-B531-66BF821B0C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7647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7A25BF07-6F13-2BDF-3BEA-747FE6D05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F8625F04-F361-0B10-DFCE-C2255D8930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C5E0BDE8-2E5C-ECFB-BB54-CC95CB5F52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71970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DE957115-DB7A-A07D-9C44-FE11808B3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06AAECE5-130B-6018-6972-40AF9A618E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CC9C3810-0138-74F1-7D74-BAA88C6E73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39488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210DA836-2755-C732-C3F5-C9EA738FD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D34CD6A3-D6B1-05EB-6E4F-EB0375D850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C3F31A69-D297-EC40-E5B9-210B3BEE1B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3205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E521EC6B-98F9-F535-E580-8ABD4D5D0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59FB1447-801B-56D7-BAEE-7B39E08844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ACFEA1B4-2CA8-5F00-86C5-48D033044F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43160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4C3948D0-209C-3A9D-637C-16DFDB527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2D7D69D1-8933-6F2F-CEE2-8DAAAD24ED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BA84548F-A2A7-A3C7-3B10-60B25AB091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2752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4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087125" y="2997489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E93421-C8C8-4AA7-432B-BE7FAF6B49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586304"/>
            <a:ext cx="2173606" cy="5735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B2F143-8CAF-2B68-1FC1-E2E468CA97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>
            <a:off x="2169800" y="4621440"/>
            <a:ext cx="730711" cy="503272"/>
          </a:xfrm>
          <a:prstGeom prst="rect">
            <a:avLst/>
          </a:prstGeom>
        </p:spPr>
      </p:pic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37FD4410-D439-FB1B-CA5C-43D69246D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73375" y="480056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1562AC-9218-2541-A582-349CD999301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643372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18" name="Google Shape;18;p3"/>
          <p:cNvGrpSpPr/>
          <p:nvPr/>
        </p:nvGrpSpPr>
        <p:grpSpPr>
          <a:xfrm>
            <a:off x="713225" y="-62550"/>
            <a:ext cx="7717800" cy="5210100"/>
            <a:chOff x="713225" y="-62550"/>
            <a:chExt cx="7717800" cy="5210100"/>
          </a:xfrm>
        </p:grpSpPr>
        <p:sp>
          <p:nvSpPr>
            <p:cNvPr id="19" name="Google Shape;19;p3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20" name="Google Shape;20;p3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3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216476" y="19771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dirty="0"/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1216476" y="2730750"/>
            <a:ext cx="5067600" cy="4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F809CD-BA76-95E5-9FF3-401021DC12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586304"/>
            <a:ext cx="2173606" cy="5735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91F8CD-9094-2379-35FF-50042298C8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>
            <a:off x="2169800" y="4621440"/>
            <a:ext cx="730711" cy="503272"/>
          </a:xfrm>
          <a:prstGeom prst="rect">
            <a:avLst/>
          </a:prstGeom>
        </p:spPr>
      </p:pic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A959A4C7-D11D-ED52-E232-C00EAEAA2F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73375" y="4796760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1562AC-9218-2541-A582-349CD999301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_1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/>
          <p:nvPr/>
        </p:nvSpPr>
        <p:spPr>
          <a:xfrm>
            <a:off x="8141976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213" name="Google Shape;213;p23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214" name="Google Shape;214;p2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215" name="Google Shape;215;p23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" name="Google Shape;216;p23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7" name="Google Shape;217;p23"/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8" name="Google Shape;218;p23"/>
          <p:cNvSpPr txBox="1">
            <a:spLocks noGrp="1"/>
          </p:cNvSpPr>
          <p:nvPr>
            <p:ph type="subTitle" idx="1"/>
          </p:nvPr>
        </p:nvSpPr>
        <p:spPr>
          <a:xfrm>
            <a:off x="874135" y="2145979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9" name="Google Shape;219;p23"/>
          <p:cNvSpPr txBox="1">
            <a:spLocks noGrp="1"/>
          </p:cNvSpPr>
          <p:nvPr>
            <p:ph type="subTitle" idx="2"/>
          </p:nvPr>
        </p:nvSpPr>
        <p:spPr>
          <a:xfrm>
            <a:off x="3319801" y="2145979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0" name="Google Shape;220;p23"/>
          <p:cNvSpPr txBox="1">
            <a:spLocks noGrp="1"/>
          </p:cNvSpPr>
          <p:nvPr>
            <p:ph type="subTitle" idx="3"/>
          </p:nvPr>
        </p:nvSpPr>
        <p:spPr>
          <a:xfrm>
            <a:off x="874135" y="3635775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1" name="Google Shape;221;p23"/>
          <p:cNvSpPr txBox="1">
            <a:spLocks noGrp="1"/>
          </p:cNvSpPr>
          <p:nvPr>
            <p:ph type="subTitle" idx="4"/>
          </p:nvPr>
        </p:nvSpPr>
        <p:spPr>
          <a:xfrm>
            <a:off x="3319801" y="3635775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2" name="Google Shape;222;p23"/>
          <p:cNvSpPr txBox="1">
            <a:spLocks noGrp="1"/>
          </p:cNvSpPr>
          <p:nvPr>
            <p:ph type="subTitle" idx="5"/>
          </p:nvPr>
        </p:nvSpPr>
        <p:spPr>
          <a:xfrm>
            <a:off x="5765466" y="2145979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3" name="Google Shape;223;p23"/>
          <p:cNvSpPr txBox="1">
            <a:spLocks noGrp="1"/>
          </p:cNvSpPr>
          <p:nvPr>
            <p:ph type="subTitle" idx="6"/>
          </p:nvPr>
        </p:nvSpPr>
        <p:spPr>
          <a:xfrm>
            <a:off x="5765466" y="3635775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4" name="Google Shape;224;p23"/>
          <p:cNvSpPr txBox="1">
            <a:spLocks noGrp="1"/>
          </p:cNvSpPr>
          <p:nvPr>
            <p:ph type="subTitle" idx="7"/>
          </p:nvPr>
        </p:nvSpPr>
        <p:spPr>
          <a:xfrm>
            <a:off x="872334" y="1769325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5" name="Google Shape;225;p23"/>
          <p:cNvSpPr txBox="1">
            <a:spLocks noGrp="1"/>
          </p:cNvSpPr>
          <p:nvPr>
            <p:ph type="subTitle" idx="8"/>
          </p:nvPr>
        </p:nvSpPr>
        <p:spPr>
          <a:xfrm>
            <a:off x="3318000" y="1769325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6" name="Google Shape;226;p23"/>
          <p:cNvSpPr txBox="1">
            <a:spLocks noGrp="1"/>
          </p:cNvSpPr>
          <p:nvPr>
            <p:ph type="subTitle" idx="9"/>
          </p:nvPr>
        </p:nvSpPr>
        <p:spPr>
          <a:xfrm>
            <a:off x="5763666" y="1769325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7" name="Google Shape;227;p23"/>
          <p:cNvSpPr txBox="1">
            <a:spLocks noGrp="1"/>
          </p:cNvSpPr>
          <p:nvPr>
            <p:ph type="subTitle" idx="13"/>
          </p:nvPr>
        </p:nvSpPr>
        <p:spPr>
          <a:xfrm>
            <a:off x="872334" y="32589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8" name="Google Shape;228;p23"/>
          <p:cNvSpPr txBox="1">
            <a:spLocks noGrp="1"/>
          </p:cNvSpPr>
          <p:nvPr>
            <p:ph type="subTitle" idx="14"/>
          </p:nvPr>
        </p:nvSpPr>
        <p:spPr>
          <a:xfrm>
            <a:off x="3318000" y="32589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9" name="Google Shape;229;p23"/>
          <p:cNvSpPr txBox="1">
            <a:spLocks noGrp="1"/>
          </p:cNvSpPr>
          <p:nvPr>
            <p:ph type="subTitle" idx="15"/>
          </p:nvPr>
        </p:nvSpPr>
        <p:spPr>
          <a:xfrm>
            <a:off x="5763666" y="32589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A82432-F80E-F575-35DD-212F6160BCD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94213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1562AC-9218-2541-A582-349CD999301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DC40D0-A4F6-9056-58AF-5CE38A3B69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91551" y="4910700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1562AC-9218-2541-A582-349CD999301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6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oogle Shape;35;p5"/>
          <p:cNvGrpSpPr/>
          <p:nvPr/>
        </p:nvGrpSpPr>
        <p:grpSpPr>
          <a:xfrm>
            <a:off x="-77100" y="232800"/>
            <a:ext cx="8988300" cy="4964300"/>
            <a:chOff x="-77100" y="232800"/>
            <a:chExt cx="8988300" cy="4964300"/>
          </a:xfrm>
        </p:grpSpPr>
        <p:sp>
          <p:nvSpPr>
            <p:cNvPr id="36" name="Google Shape;36;p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7" name="Google Shape;37;p5"/>
            <p:cNvCxnSpPr/>
            <p:nvPr/>
          </p:nvCxnSpPr>
          <p:spPr>
            <a:xfrm rot="10800000">
              <a:off x="-771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38;p5"/>
            <p:cNvCxnSpPr/>
            <p:nvPr/>
          </p:nvCxnSpPr>
          <p:spPr>
            <a:xfrm rot="10800000">
              <a:off x="8911200" y="4890500"/>
              <a:ext cx="0" cy="306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1"/>
          </p:nvPr>
        </p:nvSpPr>
        <p:spPr>
          <a:xfrm>
            <a:off x="4651268" y="1736553"/>
            <a:ext cx="37728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 dirty="0"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2"/>
          </p:nvPr>
        </p:nvSpPr>
        <p:spPr>
          <a:xfrm>
            <a:off x="720000" y="1736553"/>
            <a:ext cx="37728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3"/>
          </p:nvPr>
        </p:nvSpPr>
        <p:spPr>
          <a:xfrm>
            <a:off x="720000" y="1451250"/>
            <a:ext cx="3772800" cy="3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4"/>
          </p:nvPr>
        </p:nvSpPr>
        <p:spPr>
          <a:xfrm>
            <a:off x="4651268" y="1451250"/>
            <a:ext cx="3772800" cy="3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91A19C-8D7D-3B51-8516-62794A499B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691551" y="4910700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1562AC-9218-2541-A582-349CD9993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03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6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1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1FD234-CA68-7280-92E9-DFD3A7CD2B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1562AC-9218-2541-A582-349CD999301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69" r:id="rId3"/>
    <p:sldLayoutId id="2147483674" r:id="rId4"/>
    <p:sldLayoutId id="2147483675" r:id="rId5"/>
    <p:sldLayoutId id="2147483679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>
            <a:spLocks noGrp="1"/>
          </p:cNvSpPr>
          <p:nvPr>
            <p:ph type="ctrTitle"/>
          </p:nvPr>
        </p:nvSpPr>
        <p:spPr>
          <a:xfrm>
            <a:off x="1018886" y="1970083"/>
            <a:ext cx="5897400" cy="6016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3200" dirty="0">
                <a:latin typeface="American Typewriter" panose="02090604020004020304" pitchFamily="18" charset="77"/>
              </a:rPr>
              <a:t>SNACE Meeting : 27.11.25</a:t>
            </a:r>
            <a:endParaRPr sz="3200" dirty="0">
              <a:latin typeface="American Typewriter" panose="02090604020004020304" pitchFamily="18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1AE808-5817-E247-C0BB-FB32B4AF9513}"/>
              </a:ext>
            </a:extLst>
          </p:cNvPr>
          <p:cNvSpPr txBox="1"/>
          <p:nvPr/>
        </p:nvSpPr>
        <p:spPr>
          <a:xfrm>
            <a:off x="1224354" y="2794407"/>
            <a:ext cx="60660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merican Typewriter" panose="02090604020004020304" pitchFamily="18" charset="77"/>
              </a:rPr>
              <a:t>Bio-inspired neuromorphic tactile processing </a:t>
            </a:r>
          </a:p>
          <a:p>
            <a:r>
              <a:rPr lang="en-US" sz="2000" b="1" dirty="0">
                <a:latin typeface="American Typewriter" panose="02090604020004020304" pitchFamily="18" charset="77"/>
              </a:rPr>
              <a:t>for texture recognition</a:t>
            </a:r>
            <a:endParaRPr lang="en-US" sz="2000" dirty="0">
              <a:latin typeface="American Typewriter" panose="02090604020004020304" pitchFamily="18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/>
          <p:cNvSpPr txBox="1">
            <a:spLocks noGrp="1"/>
          </p:cNvSpPr>
          <p:nvPr>
            <p:ph type="title"/>
          </p:nvPr>
        </p:nvSpPr>
        <p:spPr>
          <a:xfrm>
            <a:off x="1216476" y="1977150"/>
            <a:ext cx="5067600" cy="16327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200" b="1" dirty="0">
                <a:latin typeface="American Typewriter" panose="02090604020004020304" pitchFamily="18" charset="77"/>
              </a:rPr>
              <a:t>Why texture perception matters ?</a:t>
            </a:r>
            <a:endParaRPr sz="3200" b="1" dirty="0">
              <a:latin typeface="American Typewriter" panose="02090604020004020304" pitchFamily="18" charset="77"/>
            </a:endParaRPr>
          </a:p>
        </p:txBody>
      </p:sp>
      <p:sp>
        <p:nvSpPr>
          <p:cNvPr id="331" name="Google Shape;331;p36"/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1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54C232-C8D4-1847-5FEF-F902FD8BF9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1562AC-9218-2541-A582-349CD9993012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AED31E6A-B00F-831B-C32F-AC00308AA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90C169A3-7BD8-DA35-A3EE-7120BAD4BF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b="1" dirty="0">
                <a:latin typeface="American Typewriter" panose="02090604020004020304" pitchFamily="18" charset="77"/>
              </a:rPr>
              <a:t>Texture is a core tactile primitive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sp>
        <p:nvSpPr>
          <p:cNvPr id="647" name="Google Shape;647;p52">
            <a:extLst>
              <a:ext uri="{FF2B5EF4-FFF2-40B4-BE49-F238E27FC236}">
                <a16:creationId xmlns:a16="http://schemas.microsoft.com/office/drawing/2014/main" id="{7402D908-BD72-82AE-95EE-7FD4EB4711D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373714"/>
            <a:ext cx="7605134" cy="3770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r>
              <a:rPr lang="en-US" sz="1200" dirty="0">
                <a:latin typeface="American Typewriter" panose="02090604020004020304" pitchFamily="18" charset="77"/>
              </a:rPr>
              <a:t>Texture is one of the first thing we perceive from touch.</a:t>
            </a: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r>
              <a:rPr lang="en-US" sz="1200" dirty="0">
                <a:latin typeface="American Typewriter" panose="02090604020004020304" pitchFamily="18" charset="77"/>
              </a:rPr>
              <a:t>It helps with material and object recognition.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r>
              <a:rPr lang="en-US" sz="1200" dirty="0">
                <a:latin typeface="American Typewriter" panose="02090604020004020304" pitchFamily="18" charset="77"/>
              </a:rPr>
              <a:t>It closes the loop for stable object manipulation (inform about slip, friction).</a:t>
            </a: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r>
              <a:rPr lang="en-US" sz="1200" dirty="0">
                <a:latin typeface="American Typewriter" panose="02090604020004020304" pitchFamily="18" charset="77"/>
              </a:rPr>
              <a:t>Crucial during active exploration both by humans and robots.</a:t>
            </a: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sz="1200" dirty="0">
              <a:latin typeface="American Typewriter" panose="02090604020004020304" pitchFamily="18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B4049-6B49-CE09-583E-3F17FDF175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62AC-9218-2541-A582-349CD999301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60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FF43E0D3-0D21-7A76-A117-03FB5E17B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3F997AF0-1E25-AE52-C49A-4AC1DAD11E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b="1" dirty="0">
                <a:latin typeface="American Typewriter" panose="02090604020004020304" pitchFamily="18" charset="77"/>
              </a:rPr>
              <a:t>What exactly is texture in the sense of touch ?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sp>
        <p:nvSpPr>
          <p:cNvPr id="647" name="Google Shape;647;p52">
            <a:extLst>
              <a:ext uri="{FF2B5EF4-FFF2-40B4-BE49-F238E27FC236}">
                <a16:creationId xmlns:a16="http://schemas.microsoft.com/office/drawing/2014/main" id="{8AA46DA9-82B8-97A5-EF5B-EF3EABEEF80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373714"/>
            <a:ext cx="7605134" cy="3770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r>
              <a:rPr lang="en-US" sz="1200" dirty="0">
                <a:latin typeface="American Typewriter" panose="02090604020004020304" pitchFamily="18" charset="77"/>
              </a:rPr>
              <a:t>Texture is the surface structure felt through skin contact and motion.</a:t>
            </a: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r>
              <a:rPr lang="en-US" sz="1200" dirty="0">
                <a:latin typeface="American Typewriter" panose="02090604020004020304" pitchFamily="18" charset="77"/>
              </a:rPr>
              <a:t>It appears as </a:t>
            </a:r>
            <a:r>
              <a:rPr lang="en-US" sz="1200" dirty="0" err="1">
                <a:latin typeface="American Typewriter" panose="02090604020004020304" pitchFamily="18" charset="77"/>
              </a:rPr>
              <a:t>spatio</a:t>
            </a:r>
            <a:r>
              <a:rPr lang="en-US" sz="1200" dirty="0">
                <a:latin typeface="American Typewriter" panose="02090604020004020304" pitchFamily="18" charset="77"/>
              </a:rPr>
              <a:t>-temporal patterns + vibrations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r>
              <a:rPr lang="en-US" sz="1200" dirty="0">
                <a:latin typeface="American Typewriter" panose="02090604020004020304" pitchFamily="18" charset="77"/>
              </a:rPr>
              <a:t>Perception depends on exploration parameters: speed, force, direction.</a:t>
            </a: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sz="1200" dirty="0">
              <a:latin typeface="American Typewriter" panose="02090604020004020304" pitchFamily="18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4E0198-C13D-18F6-A253-0AE472FDA1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62AC-9218-2541-A582-349CD999301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20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30B4E56C-D614-39CE-275A-7DEBD8BF2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1985F62F-B536-E4F8-0256-844F81BDF4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5" y="1977150"/>
            <a:ext cx="5509178" cy="16327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200" b="1" dirty="0">
                <a:latin typeface="American Typewriter" panose="02090604020004020304" pitchFamily="18" charset="77"/>
              </a:rPr>
              <a:t>Conventional texture processing pipeline</a:t>
            </a:r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B285ED4E-2FC1-5EDF-88B8-395824F5B02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2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5CB203-EAAD-3A3F-F822-4B36C15AE3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1562AC-9218-2541-A582-349CD999301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351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D512ADC8-DF0D-C72E-F7AC-A191D8920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9A198553-EBD8-8747-FF5F-F9C99AFFE9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>
                <a:latin typeface="American Typewriter" panose="02090604020004020304" pitchFamily="18" charset="77"/>
              </a:rPr>
              <a:t>Conventional frame-based pipeline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sp>
        <p:nvSpPr>
          <p:cNvPr id="647" name="Google Shape;647;p52">
            <a:extLst>
              <a:ext uri="{FF2B5EF4-FFF2-40B4-BE49-F238E27FC236}">
                <a16:creationId xmlns:a16="http://schemas.microsoft.com/office/drawing/2014/main" id="{923CE56A-A434-8D19-BB6E-E05B224241C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017724"/>
            <a:ext cx="7605134" cy="38408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• Tactile Sensors are sampled 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continuously at fixed rate</a:t>
            </a:r>
            <a:r>
              <a:rPr lang="en-US" sz="1200" dirty="0">
                <a:latin typeface="American Typewriter" panose="02090604020004020304" pitchFamily="18" charset="77"/>
              </a:rPr>
              <a:t>.</a:t>
            </a: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• Raw signals form 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frames</a:t>
            </a:r>
            <a:r>
              <a:rPr lang="en-US" sz="1200" dirty="0">
                <a:latin typeface="American Typewriter" panose="02090604020004020304" pitchFamily="18" charset="77"/>
              </a:rPr>
              <a:t>.</a:t>
            </a: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• Features are computed in time, frequency, or space.</a:t>
            </a: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• A 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classifier</a:t>
            </a:r>
            <a:r>
              <a:rPr lang="en-US" sz="1200" dirty="0">
                <a:latin typeface="American Typewriter" panose="02090604020004020304" pitchFamily="18" charset="77"/>
              </a:rPr>
              <a:t> predicts texture from those features.</a:t>
            </a: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• Training is usually 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offline on large datasets</a:t>
            </a:r>
            <a:r>
              <a:rPr lang="en-US" sz="1200" dirty="0">
                <a:latin typeface="American Typewriter" panose="02090604020004020304" pitchFamily="18" charset="77"/>
              </a:rPr>
              <a:t>.</a:t>
            </a: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10A3AB-963F-6199-6A3B-8ABEDDC9C1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62AC-9218-2541-A582-349CD999301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51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532B7AA5-8891-9751-E400-74A0614B3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858A4510-E5B5-2B74-894B-87D01462A2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>
                <a:latin typeface="American Typewriter" panose="02090604020004020304" pitchFamily="18" charset="77"/>
              </a:rPr>
              <a:t>Frame-based approach shortcomings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sp>
        <p:nvSpPr>
          <p:cNvPr id="647" name="Google Shape;647;p52">
            <a:extLst>
              <a:ext uri="{FF2B5EF4-FFF2-40B4-BE49-F238E27FC236}">
                <a16:creationId xmlns:a16="http://schemas.microsoft.com/office/drawing/2014/main" id="{288B05AD-7791-5342-264F-922C8BD484D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017724"/>
            <a:ext cx="7605134" cy="38408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Results in 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high power consumption</a:t>
            </a:r>
            <a:r>
              <a:rPr lang="en-US" sz="1200" dirty="0">
                <a:latin typeface="American Typewriter" panose="02090604020004020304" pitchFamily="18" charset="77"/>
              </a:rPr>
              <a:t>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Centralized processing models </a:t>
            </a:r>
            <a:r>
              <a:rPr lang="en-US" sz="1200" dirty="0">
                <a:latin typeface="American Typewriter" panose="02090604020004020304" pitchFamily="18" charset="77"/>
              </a:rPr>
              <a:t>→ limit scalability and are not energy-efficient.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dirty="0"/>
          </a:p>
          <a:p>
            <a:pPr marL="0" indent="0">
              <a:buNone/>
            </a:pP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Lack of biological selectivity</a:t>
            </a:r>
            <a:r>
              <a:rPr lang="en-US" sz="1200" dirty="0">
                <a:latin typeface="American Typewriter" panose="02090604020004020304" pitchFamily="18" charset="77"/>
              </a:rPr>
              <a:t>:</a:t>
            </a:r>
          </a:p>
          <a:p>
            <a:pPr marL="628650" lvl="1" indent="-171450" algn="l"/>
            <a:r>
              <a:rPr lang="en-US" sz="1200" dirty="0">
                <a:latin typeface="American Typewriter" panose="02090604020004020304" pitchFamily="18" charset="77"/>
              </a:rPr>
              <a:t>Most systems do not distinguish 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dynamic</a:t>
            </a:r>
            <a:r>
              <a:rPr lang="en-US" sz="1200" dirty="0">
                <a:latin typeface="American Typewriter" panose="02090604020004020304" pitchFamily="18" charset="77"/>
              </a:rPr>
              <a:t> (fast) and 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static</a:t>
            </a:r>
            <a:r>
              <a:rPr lang="en-US" sz="1200" dirty="0">
                <a:latin typeface="American Typewriter" panose="02090604020004020304" pitchFamily="18" charset="77"/>
              </a:rPr>
              <a:t> (slow) touch signals.</a:t>
            </a:r>
          </a:p>
          <a:p>
            <a:pPr marL="628650" lvl="1" indent="-171450" algn="l"/>
            <a:endParaRPr lang="en-US" sz="1200" dirty="0">
              <a:latin typeface="American Typewriter" panose="02090604020004020304" pitchFamily="18" charset="77"/>
            </a:endParaRPr>
          </a:p>
          <a:p>
            <a:pPr marL="628650" lvl="1" indent="-171450" algn="l"/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Current solutions </a:t>
            </a: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American Typewriter" panose="02090604020004020304" pitchFamily="18" charset="77"/>
              </a:rPr>
              <a:t>transmit raw data with 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minimal preprocessing.</a:t>
            </a: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493DFF-2661-DC88-DE13-177E9BC317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62AC-9218-2541-A582-349CD999301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723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5EFAF677-4C13-0186-7E49-5CC2BF7B6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EE6E164A-3386-C284-EE80-AAAA7CABA8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5" y="1977150"/>
            <a:ext cx="6047209" cy="16327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4000" b="1" dirty="0">
                <a:latin typeface="American Typewriter" panose="02090604020004020304" pitchFamily="18" charset="77"/>
              </a:rPr>
              <a:t>Towards a neuromorphic approach</a:t>
            </a:r>
            <a:endParaRPr sz="4000" b="1" dirty="0">
              <a:latin typeface="American Typewriter" panose="02090604020004020304" pitchFamily="18" charset="77"/>
            </a:endParaRPr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7072115C-BEBE-3FBB-8071-2123D0872A3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3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44356E-5DB2-3313-7F28-6100ED145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1562AC-9218-2541-A582-349CD999301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038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D13F5324-7E1A-E486-C4FF-2A24DDC20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9EC3B7D1-E23C-244A-9593-7B1C79EF49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>
                <a:latin typeface="American Typewriter" panose="02090604020004020304" pitchFamily="18" charset="77"/>
              </a:rPr>
              <a:t>Why neuromorphic fits texture ?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sp>
        <p:nvSpPr>
          <p:cNvPr id="647" name="Google Shape;647;p52">
            <a:extLst>
              <a:ext uri="{FF2B5EF4-FFF2-40B4-BE49-F238E27FC236}">
                <a16:creationId xmlns:a16="http://schemas.microsoft.com/office/drawing/2014/main" id="{512C06B2-6144-72F4-2410-E9E0F00EF80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6439" y="1232046"/>
            <a:ext cx="7605134" cy="3770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r>
              <a:rPr lang="en-US" sz="1200" dirty="0">
                <a:latin typeface="American Typewriter" panose="02090604020004020304" pitchFamily="18" charset="77"/>
              </a:rPr>
              <a:t>Texture signals are 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sparse bursts</a:t>
            </a:r>
            <a:r>
              <a:rPr lang="en-US" sz="1200" dirty="0">
                <a:latin typeface="American Typewriter" panose="02090604020004020304" pitchFamily="18" charset="77"/>
              </a:rPr>
              <a:t>, not continuous changes.</a:t>
            </a: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r>
              <a:rPr lang="en-US" sz="1200" dirty="0">
                <a:latin typeface="American Typewriter" panose="02090604020004020304" pitchFamily="18" charset="77"/>
              </a:rPr>
              <a:t>Spikes capture micro events with 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high timing precision</a:t>
            </a:r>
            <a:r>
              <a:rPr lang="en-US" sz="1200" dirty="0">
                <a:latin typeface="American Typewriter" panose="02090604020004020304" pitchFamily="18" charset="77"/>
              </a:rPr>
              <a:t>.</a:t>
            </a: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r>
              <a:rPr lang="en-US" sz="1200" dirty="0">
                <a:latin typeface="American Typewriter" panose="02090604020004020304" pitchFamily="18" charset="77"/>
              </a:rPr>
              <a:t>Event encoding 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cuts bandwidth and power </a:t>
            </a:r>
            <a:r>
              <a:rPr lang="en-US" sz="1200" dirty="0">
                <a:latin typeface="American Typewriter" panose="02090604020004020304" pitchFamily="18" charset="77"/>
              </a:rPr>
              <a:t>for large skins.</a:t>
            </a: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r>
              <a:rPr lang="en-US" sz="1200" dirty="0">
                <a:latin typeface="American Typewriter" panose="02090604020004020304" pitchFamily="18" charset="77"/>
              </a:rPr>
              <a:t>Can make use of neuromorphic back-ends for learning (SNNs, neuromorphic hardware)</a:t>
            </a: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sz="1200" dirty="0">
              <a:latin typeface="American Typewriter" panose="02090604020004020304" pitchFamily="18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C8D056-33CF-1295-7D3A-F14D904633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62AC-9218-2541-A582-349CD999301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730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7"/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>
                <a:latin typeface="American Typewriter" panose="02090604020004020304" pitchFamily="18" charset="77"/>
              </a:rPr>
              <a:t>State of the Art in e-Skin Transduction</a:t>
            </a:r>
            <a:endParaRPr sz="2400" dirty="0">
              <a:latin typeface="American Typewriter" panose="02090604020004020304" pitchFamily="18" charset="77"/>
            </a:endParaRPr>
          </a:p>
        </p:txBody>
      </p:sp>
      <p:pic>
        <p:nvPicPr>
          <p:cNvPr id="2" name="Picture 1" descr="A diagram of a system&#10;&#10;AI-generated content may be incorrect.">
            <a:extLst>
              <a:ext uri="{FF2B5EF4-FFF2-40B4-BE49-F238E27FC236}">
                <a16:creationId xmlns:a16="http://schemas.microsoft.com/office/drawing/2014/main" id="{434244FB-004B-098D-9416-164FC8DE6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859" y="1103174"/>
            <a:ext cx="5682281" cy="27996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3A4F13-FDE3-F1BA-B5FD-67F0D9C3E07F}"/>
              </a:ext>
            </a:extLst>
          </p:cNvPr>
          <p:cNvSpPr txBox="1"/>
          <p:nvPr/>
        </p:nvSpPr>
        <p:spPr>
          <a:xfrm>
            <a:off x="1922694" y="4125774"/>
            <a:ext cx="54230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effectLst/>
                <a:latin typeface="American Typewriter" panose="02090604020004020304" pitchFamily="18" charset="77"/>
              </a:rPr>
              <a:t>Alea, M. D. et al. A Fingertip-Mimicking 12x16 200 </a:t>
            </a:r>
            <a:r>
              <a:rPr lang="el-GR" sz="1200" dirty="0">
                <a:effectLst/>
                <a:latin typeface="American Typewriter" panose="02090604020004020304" pitchFamily="18" charset="77"/>
              </a:rPr>
              <a:t>μ</a:t>
            </a:r>
            <a:r>
              <a:rPr lang="en-US" sz="1200" dirty="0">
                <a:effectLst/>
                <a:latin typeface="American Typewriter" panose="02090604020004020304" pitchFamily="18" charset="77"/>
              </a:rPr>
              <a:t>m-Resolution e-Skin </a:t>
            </a:r>
            <a:r>
              <a:rPr lang="en-US" sz="1200" dirty="0" err="1">
                <a:effectLst/>
                <a:latin typeface="American Typewriter" panose="02090604020004020304" pitchFamily="18" charset="77"/>
              </a:rPr>
              <a:t>Taxel</a:t>
            </a:r>
            <a:r>
              <a:rPr lang="en-US" sz="1200" dirty="0">
                <a:effectLst/>
                <a:latin typeface="American Typewriter" panose="02090604020004020304" pitchFamily="18" charset="77"/>
              </a:rPr>
              <a:t> Readout Chip (2024).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868299-C67C-C3C9-7A40-31885E98EE0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1562AC-9218-2541-A582-349CD9993012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0B649FAA-6D11-EE43-F5F3-0149E998F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8C0D211D-7FC7-4AEC-30F9-CB3E956BF5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5" y="1977150"/>
            <a:ext cx="6592019" cy="16327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4000" b="1" dirty="0">
                <a:latin typeface="American Typewriter" panose="02090604020004020304" pitchFamily="18" charset="77"/>
              </a:rPr>
              <a:t>Biological Inspiration in Tactile Sensing: Why It Matters</a:t>
            </a:r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1545C239-B589-266B-5569-99452D3FCB3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4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5ABFB9-32A6-A802-402A-4CF58AEB7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1562AC-9218-2541-A582-349CD999301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95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6886E510-3F4D-6F0F-1B7C-85EBB9C35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0C24783E-FB56-D6D3-5AAD-A31B05A17C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200" b="1" dirty="0">
                <a:latin typeface="American Typewriter" panose="02090604020004020304" pitchFamily="18" charset="77"/>
              </a:rPr>
              <a:t>Why Mechanoreceptors Are Worth Mimicking</a:t>
            </a:r>
            <a:endParaRPr sz="2200" b="1" dirty="0">
              <a:latin typeface="American Typewriter" panose="02090604020004020304" pitchFamily="18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3A5A64-58BA-8D86-3552-3E9A590B3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800" y="975254"/>
            <a:ext cx="4019425" cy="3164595"/>
          </a:xfrm>
          <a:prstGeom prst="rect">
            <a:avLst/>
          </a:prstGeom>
        </p:spPr>
      </p:pic>
      <p:sp>
        <p:nvSpPr>
          <p:cNvPr id="9" name="Google Shape;647;p52">
            <a:extLst>
              <a:ext uri="{FF2B5EF4-FFF2-40B4-BE49-F238E27FC236}">
                <a16:creationId xmlns:a16="http://schemas.microsoft.com/office/drawing/2014/main" id="{1958AE49-DC06-8C42-4834-7B1B993959A8}"/>
              </a:ext>
            </a:extLst>
          </p:cNvPr>
          <p:cNvSpPr txBox="1">
            <a:spLocks/>
          </p:cNvSpPr>
          <p:nvPr/>
        </p:nvSpPr>
        <p:spPr>
          <a:xfrm>
            <a:off x="720000" y="1494726"/>
            <a:ext cx="3772800" cy="2979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Biological skin uses multiple mechanoreceptors to encode different aspects of touch.</a:t>
            </a: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85750" indent="-285750"/>
            <a:r>
              <a:rPr lang="en-US" sz="1200" dirty="0">
                <a:latin typeface="American Typewriter" panose="02090604020004020304" pitchFamily="18" charset="77"/>
              </a:rPr>
              <a:t>Fast-Adapting (FA) receptors 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respond to changes</a:t>
            </a:r>
            <a:r>
              <a:rPr lang="en-US" sz="1200" dirty="0">
                <a:latin typeface="American Typewriter" panose="02090604020004020304" pitchFamily="18" charset="77"/>
              </a:rPr>
              <a:t> – they detect vibration, motion.</a:t>
            </a:r>
            <a:endParaRPr lang="en-US" sz="1500" dirty="0">
              <a:latin typeface="American Typewriter" panose="02090604020004020304" pitchFamily="18" charset="77"/>
            </a:endParaRPr>
          </a:p>
          <a:p>
            <a:pPr marL="257175" indent="-304800"/>
            <a:endParaRPr lang="en-US" dirty="0"/>
          </a:p>
          <a:p>
            <a:pPr marL="257175" indent="-304800"/>
            <a:r>
              <a:rPr lang="en-US" sz="1200" dirty="0">
                <a:latin typeface="American Typewriter" panose="02090604020004020304" pitchFamily="18" charset="77"/>
              </a:rPr>
              <a:t>Slow-Adapting (SA) receptors 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respond to sustained pressure</a:t>
            </a:r>
            <a:r>
              <a:rPr lang="en-US" sz="1200" dirty="0">
                <a:latin typeface="American Typewriter" panose="02090604020004020304" pitchFamily="18" charset="77"/>
              </a:rPr>
              <a:t> – they encode object shape, force and contact duration.</a:t>
            </a:r>
          </a:p>
          <a:p>
            <a:pPr marL="257175" indent="-304800"/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Mimicking both types enables rich temporal encoding, 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distinguishing dynamic touch from static touch</a:t>
            </a:r>
            <a:r>
              <a:rPr lang="en-US" sz="1200" dirty="0">
                <a:latin typeface="American Typewriter" panose="02090604020004020304" pitchFamily="18" charset="77"/>
              </a:rPr>
              <a:t>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FE5BAC-B6F9-D8A3-3628-394CE7FCFCCD}"/>
              </a:ext>
            </a:extLst>
          </p:cNvPr>
          <p:cNvSpPr txBox="1"/>
          <p:nvPr/>
        </p:nvSpPr>
        <p:spPr>
          <a:xfrm>
            <a:off x="4572000" y="4242911"/>
            <a:ext cx="41182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effectLst/>
                <a:latin typeface="American Typewriter" panose="02090604020004020304" pitchFamily="18" charset="77"/>
              </a:rPr>
              <a:t>Principles of Neural Science, 6e | </a:t>
            </a:r>
            <a:r>
              <a:rPr lang="en-US" sz="1200" dirty="0" err="1">
                <a:effectLst/>
                <a:latin typeface="American Typewriter" panose="02090604020004020304" pitchFamily="18" charset="77"/>
              </a:rPr>
              <a:t>AccessNeurology</a:t>
            </a:r>
            <a:r>
              <a:rPr lang="en-US" sz="1200" dirty="0">
                <a:effectLst/>
                <a:latin typeface="American Typewriter" panose="02090604020004020304" pitchFamily="18" charset="77"/>
              </a:rPr>
              <a:t> | McGraw Hill Medical.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B0D5DE-A304-D65E-01A6-4CACB787C8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62AC-9218-2541-A582-349CD999301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976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199C167B-A9A7-01F5-46C7-BE94D4372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F046C2FB-2CF7-2E82-B21E-10F22355E6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5" y="1977150"/>
            <a:ext cx="6592019" cy="16327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200" b="1" dirty="0">
                <a:latin typeface="American Typewriter" panose="02090604020004020304" pitchFamily="18" charset="77"/>
              </a:rPr>
              <a:t>Toward a More Complete Bio-Inspired Texture Recognition Pipeline</a:t>
            </a:r>
            <a:endParaRPr sz="3200" b="1" dirty="0">
              <a:latin typeface="American Typewriter" panose="02090604020004020304" pitchFamily="18" charset="77"/>
            </a:endParaRPr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77A6AC57-1B98-6DCE-0ADA-5F8BDA5CD98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5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823B3B-2EB7-CE77-66E9-0551FA8FC9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1562AC-9218-2541-A582-349CD999301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167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5803DB58-0A7E-4610-F078-B6928DC6C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1AF63FEE-11FB-DA32-96CD-296443A70C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800" b="1" dirty="0">
                <a:latin typeface="American Typewriter" panose="02090604020004020304" pitchFamily="18" charset="77"/>
              </a:rPr>
              <a:t>Texture Recognition System Overview</a:t>
            </a:r>
            <a:endParaRPr sz="1800" b="1" dirty="0">
              <a:latin typeface="American Typewriter" panose="02090604020004020304" pitchFamily="18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007527-37C1-17AD-DC8C-8DAA7AC7F5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62AC-9218-2541-A582-349CD9993012}" type="slidenum">
              <a:rPr lang="en-US" smtClean="0"/>
              <a:t>14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83675B-D926-12E7-4E0E-B5DFC91AC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770" y="781700"/>
            <a:ext cx="6018459" cy="391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689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311E6BBA-7943-6429-B5D3-D5ADDDE6C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53E5B1F8-C736-49A2-B512-8A69F8AA40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800" b="1" dirty="0">
                <a:latin typeface="American Typewriter" panose="02090604020004020304" pitchFamily="18" charset="77"/>
              </a:rPr>
              <a:t>Tactile Encoding Chip</a:t>
            </a:r>
            <a:endParaRPr sz="1800" b="1" dirty="0">
              <a:latin typeface="American Typewriter" panose="02090604020004020304" pitchFamily="18" charset="77"/>
            </a:endParaRPr>
          </a:p>
        </p:txBody>
      </p:sp>
      <p:sp>
        <p:nvSpPr>
          <p:cNvPr id="9" name="Google Shape;647;p52">
            <a:extLst>
              <a:ext uri="{FF2B5EF4-FFF2-40B4-BE49-F238E27FC236}">
                <a16:creationId xmlns:a16="http://schemas.microsoft.com/office/drawing/2014/main" id="{7738420E-BC8A-4021-4D21-181930AC7102}"/>
              </a:ext>
            </a:extLst>
          </p:cNvPr>
          <p:cNvSpPr txBox="1">
            <a:spLocks/>
          </p:cNvSpPr>
          <p:nvPr/>
        </p:nvSpPr>
        <p:spPr>
          <a:xfrm>
            <a:off x="720000" y="1188720"/>
            <a:ext cx="8218260" cy="3680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latin typeface="American Typewriter" panose="02090604020004020304" pitchFamily="18" charset="77"/>
              </a:rPr>
              <a:t>New biologically inspired tactile encoding chip extending the State of the Art by:</a:t>
            </a: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r>
              <a:rPr lang="en-US" sz="1200" dirty="0">
                <a:latin typeface="American Typewriter" panose="02090604020004020304" pitchFamily="18" charset="77"/>
              </a:rPr>
              <a:t>Integrating 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multiple mechanoreceptor models</a:t>
            </a:r>
            <a:r>
              <a:rPr lang="en-US" sz="1200" dirty="0">
                <a:latin typeface="American Typewriter" panose="02090604020004020304" pitchFamily="18" charset="77"/>
              </a:rPr>
              <a:t>.</a:t>
            </a:r>
          </a:p>
          <a:p>
            <a:pPr marL="171450" indent="-171450"/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r>
              <a:rPr lang="en-US" sz="1200" dirty="0">
                <a:latin typeface="American Typewriter" panose="02090604020004020304" pitchFamily="18" charset="77"/>
              </a:rPr>
              <a:t>Performing on-chip analog-to-spike transduction at the 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mechanoreceptor level</a:t>
            </a:r>
            <a:r>
              <a:rPr lang="en-US" sz="1200" dirty="0">
                <a:latin typeface="American Typewriter" panose="02090604020004020304" pitchFamily="18" charset="77"/>
              </a:rPr>
              <a:t>, with separated sensing arrays.</a:t>
            </a:r>
          </a:p>
          <a:p>
            <a:pPr marL="171450" indent="-171450"/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r>
              <a:rPr lang="en-US" sz="1200" dirty="0">
                <a:latin typeface="American Typewriter" panose="02090604020004020304" pitchFamily="18" charset="77"/>
              </a:rPr>
              <a:t>Reducing data redundancy through 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event-driven encoding</a:t>
            </a:r>
            <a:r>
              <a:rPr lang="en-US" sz="1200" dirty="0">
                <a:latin typeface="American Typewriter" panose="02090604020004020304" pitchFamily="18" charset="77"/>
              </a:rPr>
              <a:t>.</a:t>
            </a:r>
          </a:p>
          <a:p>
            <a:pPr marL="171450" indent="-171450"/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r>
              <a:rPr lang="en-US" sz="1200" dirty="0">
                <a:latin typeface="American Typewriter" panose="02090604020004020304" pitchFamily="18" charset="77"/>
              </a:rPr>
              <a:t>Enabling 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asynchronous spike-based communication </a:t>
            </a:r>
            <a:r>
              <a:rPr lang="en-US" sz="1200" dirty="0">
                <a:latin typeface="American Typewriter" panose="02090604020004020304" pitchFamily="18" charset="77"/>
              </a:rPr>
              <a:t>via AER.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29E53D-6E81-431E-3788-4B781B7939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62AC-9218-2541-A582-349CD999301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14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79B01B9A-6EE6-764E-C5EE-263120A09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c 20">
            <a:extLst>
              <a:ext uri="{FF2B5EF4-FFF2-40B4-BE49-F238E27FC236}">
                <a16:creationId xmlns:a16="http://schemas.microsoft.com/office/drawing/2014/main" id="{DE26B250-D30E-AC2E-DF4C-F671710A2C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600" y="966802"/>
            <a:ext cx="7772400" cy="3667096"/>
          </a:xfrm>
          <a:prstGeom prst="rect">
            <a:avLst/>
          </a:prstGeom>
        </p:spPr>
      </p:pic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55141082-CA42-05BF-4275-560777AC91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800" b="1" dirty="0">
                <a:latin typeface="American Typewriter" panose="02090604020004020304" pitchFamily="18" charset="77"/>
              </a:rPr>
              <a:t>Neuromorphic Analog-to-Spike Converter: The </a:t>
            </a:r>
            <a:r>
              <a:rPr lang="en-US" sz="1800" b="1" dirty="0" err="1">
                <a:latin typeface="American Typewriter" panose="02090604020004020304" pitchFamily="18" charset="77"/>
              </a:rPr>
              <a:t>Taxel</a:t>
            </a:r>
            <a:r>
              <a:rPr lang="en-US" sz="1800" b="1" dirty="0">
                <a:latin typeface="American Typewriter" panose="02090604020004020304" pitchFamily="18" charset="77"/>
              </a:rPr>
              <a:t> as a Functional Unit</a:t>
            </a:r>
            <a:endParaRPr sz="1800" b="1" dirty="0">
              <a:latin typeface="American Typewriter" panose="02090604020004020304" pitchFamily="18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C791BC-445C-0576-7DCD-1E6FCB6583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62AC-9218-2541-A582-349CD999301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786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A1D53604-91FE-306E-FE25-7CEFA43FA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BBF9190B-BF47-4CA9-0B9F-18727189D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5" y="1977150"/>
            <a:ext cx="6592019" cy="16327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200" b="1" dirty="0">
                <a:latin typeface="American Typewriter" panose="02090604020004020304" pitchFamily="18" charset="77"/>
              </a:rPr>
              <a:t>Neuromorphic frequency extraction</a:t>
            </a:r>
            <a:endParaRPr sz="3200" b="1" dirty="0">
              <a:latin typeface="American Typewriter" panose="02090604020004020304" pitchFamily="18" charset="77"/>
            </a:endParaRPr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0D7D99CE-04EE-9EA3-8AE2-AE82407C0E2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E9DEAA-D878-CBA8-4951-AD87F8890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1562AC-9218-2541-A582-349CD999301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872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FCB9FEF1-0262-0101-2635-43D58E965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BF11B260-AEA5-417B-A7D9-D6DFBE839C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>
                <a:latin typeface="American Typewriter" panose="02090604020004020304" pitchFamily="18" charset="77"/>
              </a:rPr>
              <a:t>SOA in Neuromorphic Frequency Extraction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sp>
        <p:nvSpPr>
          <p:cNvPr id="647" name="Google Shape;647;p52">
            <a:extLst>
              <a:ext uri="{FF2B5EF4-FFF2-40B4-BE49-F238E27FC236}">
                <a16:creationId xmlns:a16="http://schemas.microsoft.com/office/drawing/2014/main" id="{92ED99E4-D6FF-6BD2-73BA-0B2533987AE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373714"/>
            <a:ext cx="7605134" cy="3770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en-US" sz="1200" b="1" dirty="0">
                <a:latin typeface="American Typewriter" panose="02090604020004020304" pitchFamily="18" charset="77"/>
              </a:rPr>
              <a:t>Spiking Phase-locked Loop </a:t>
            </a:r>
            <a:r>
              <a:rPr lang="en-US" sz="1200" dirty="0">
                <a:latin typeface="American Typewriter" panose="02090604020004020304" pitchFamily="18" charset="77"/>
              </a:rPr>
              <a:t>(</a:t>
            </a:r>
            <a:r>
              <a:rPr lang="en-US" sz="1200" dirty="0" err="1">
                <a:latin typeface="American Typewriter" panose="02090604020004020304" pitchFamily="18" charset="77"/>
              </a:rPr>
              <a:t>sPLL</a:t>
            </a:r>
            <a:r>
              <a:rPr lang="en-US" sz="1200" dirty="0">
                <a:latin typeface="American Typewriter" panose="02090604020004020304" pitchFamily="18" charset="77"/>
              </a:rPr>
              <a:t>) system in neuromorphic hardware.</a:t>
            </a:r>
          </a:p>
          <a:p>
            <a:pPr marL="171450" indent="-171450"/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sz="1200" dirty="0">
              <a:latin typeface="American Typewriter" panose="02090604020004020304" pitchFamily="18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DE3CE7-8035-6CF8-3E64-3067F51762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62AC-9218-2541-A582-349CD9993012}" type="slidenum">
              <a:rPr lang="en-US" smtClean="0"/>
              <a:t>18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C534EF-C5EC-E284-E4F4-6184FBC06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009" y="1854618"/>
            <a:ext cx="3979116" cy="23487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96AC3C-8BFA-2115-FDE9-99A8B74586C5}"/>
              </a:ext>
            </a:extLst>
          </p:cNvPr>
          <p:cNvSpPr txBox="1"/>
          <p:nvPr/>
        </p:nvSpPr>
        <p:spPr>
          <a:xfrm>
            <a:off x="720000" y="4244126"/>
            <a:ext cx="7704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Mastella, M., Tiemens, T. &amp; Chicca, E. Texture Recognition Using a Biologically Plausible Spiking Phase-Locked Loop Model for Spike Train Frequency Decomposition. (2024).</a:t>
            </a:r>
          </a:p>
          <a:p>
            <a:endParaRPr lang="en-US" dirty="0">
              <a:latin typeface="American Typewriter" panose="0209060402000402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82694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556E3F15-EC51-2163-0CEA-6A3425B80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795D0C89-6130-0BF4-A6CA-03A90ED923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>
                <a:latin typeface="American Typewriter" panose="02090604020004020304" pitchFamily="18" charset="77"/>
              </a:rPr>
              <a:t>SOA in Neuromorphic Frequency Extraction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sp>
        <p:nvSpPr>
          <p:cNvPr id="647" name="Google Shape;647;p52">
            <a:extLst>
              <a:ext uri="{FF2B5EF4-FFF2-40B4-BE49-F238E27FC236}">
                <a16:creationId xmlns:a16="http://schemas.microsoft.com/office/drawing/2014/main" id="{4168009C-05B5-A11C-F155-4D011A58AC8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373714"/>
            <a:ext cx="7605134" cy="3770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en-US" sz="1200" b="1" dirty="0">
                <a:latin typeface="American Typewriter" panose="02090604020004020304" pitchFamily="18" charset="77"/>
              </a:rPr>
              <a:t>Neuromorphic Cochlea </a:t>
            </a:r>
            <a:r>
              <a:rPr lang="en-US" sz="1200" dirty="0">
                <a:latin typeface="American Typewriter" panose="02090604020004020304" pitchFamily="18" charset="77"/>
              </a:rPr>
              <a:t>: uses cascade of filters to create bandpass filters over the hearing bandwidth.</a:t>
            </a:r>
          </a:p>
          <a:p>
            <a:pPr marL="171450" indent="-171450"/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sz="1200" dirty="0">
              <a:latin typeface="American Typewriter" panose="02090604020004020304" pitchFamily="18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940F6D-37FA-C00C-57B5-D49D294ECB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62AC-9218-2541-A582-349CD9993012}" type="slidenum">
              <a:rPr lang="en-US" smtClean="0"/>
              <a:t>19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FF2C27-A2B4-B272-EB19-C329628D6084}"/>
              </a:ext>
            </a:extLst>
          </p:cNvPr>
          <p:cNvSpPr txBox="1"/>
          <p:nvPr/>
        </p:nvSpPr>
        <p:spPr>
          <a:xfrm>
            <a:off x="720000" y="4244126"/>
            <a:ext cx="770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Liu, S.-C., van Schaik, A., Minch, B. A. &amp; Delbruck, T. Event-based 64-channel binaural silicon cochlea with Q enhancement mechanisms. (2010)</a:t>
            </a:r>
            <a:endParaRPr lang="en-US" dirty="0">
              <a:effectLst/>
              <a:latin typeface="American Typewriter" panose="02090604020004020304" pitchFamily="18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F08A5F-D46B-8CDE-92DC-B37ECCF0D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764" y="1829038"/>
            <a:ext cx="4940471" cy="227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621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5D666C0D-B91D-97B4-EEB2-668F16643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E3C51C0F-9DC3-4826-908A-3F430B9556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5" y="1977150"/>
            <a:ext cx="6592019" cy="16327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200" b="1" dirty="0">
                <a:latin typeface="American Typewriter" panose="02090604020004020304" pitchFamily="18" charset="77"/>
              </a:rPr>
              <a:t>Efficient Coding Layer</a:t>
            </a:r>
            <a:endParaRPr sz="3200" b="1" dirty="0">
              <a:latin typeface="American Typewriter" panose="02090604020004020304" pitchFamily="18" charset="77"/>
            </a:endParaRPr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B691C282-08B9-7ADC-5CCC-8F5BDA1620F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7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8C5B6B-682E-BADC-DA52-0164152AA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1562AC-9218-2541-A582-349CD999301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55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9CCBA18E-C8FF-EC52-2583-C68BB6F87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08EA7D66-C0F8-F156-7ADA-2247489B01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>
                <a:latin typeface="American Typewriter" panose="02090604020004020304" pitchFamily="18" charset="77"/>
              </a:rPr>
              <a:t>Efficient Coding Layer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sp>
        <p:nvSpPr>
          <p:cNvPr id="647" name="Google Shape;647;p52">
            <a:extLst>
              <a:ext uri="{FF2B5EF4-FFF2-40B4-BE49-F238E27FC236}">
                <a16:creationId xmlns:a16="http://schemas.microsoft.com/office/drawing/2014/main" id="{4626F52E-9051-1B56-FC64-55B86101FA0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373714"/>
            <a:ext cx="7605134" cy="3770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200" b="1" dirty="0">
                <a:latin typeface="American Typewriter" panose="02090604020004020304" pitchFamily="18" charset="77"/>
              </a:rPr>
              <a:t>Goal: </a:t>
            </a:r>
          </a:p>
          <a:p>
            <a:pPr marL="0" indent="0">
              <a:buNone/>
            </a:pPr>
            <a:endParaRPr lang="en-US" sz="1200" b="1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Design a control scheme optimizing both 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task performance </a:t>
            </a:r>
            <a:r>
              <a:rPr lang="en-US" sz="1200" dirty="0">
                <a:latin typeface="American Typewriter" panose="02090604020004020304" pitchFamily="18" charset="77"/>
              </a:rPr>
              <a:t>and 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system energy efficiency</a:t>
            </a:r>
            <a:r>
              <a:rPr lang="en-US" sz="1200" dirty="0">
                <a:latin typeface="American Typewriter" panose="02090604020004020304" pitchFamily="18" charset="77"/>
              </a:rPr>
              <a:t>.</a:t>
            </a: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b="1" dirty="0">
                <a:latin typeface="American Typewriter" panose="02090604020004020304" pitchFamily="18" charset="77"/>
              </a:rPr>
              <a:t>Active Efficient Coding:</a:t>
            </a:r>
          </a:p>
          <a:p>
            <a:pPr marL="0" indent="0">
              <a:buNone/>
            </a:pPr>
            <a:endParaRPr lang="en-US" sz="1200" b="1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Adapts biases/gains of lower layers via feedback using a Reinforcement Learning Framework.</a:t>
            </a:r>
          </a:p>
          <a:p>
            <a:pPr marL="171450" indent="-171450"/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sz="1200" dirty="0">
              <a:latin typeface="American Typewriter" panose="02090604020004020304" pitchFamily="18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8CF35B-1571-11C5-4169-15CFDB5A45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62AC-9218-2541-A582-349CD999301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199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9FC3D8BB-1C59-EA96-B582-A27A71E88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7A3671C1-664E-7C62-EBFC-3C698065FD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>
                <a:latin typeface="American Typewriter" panose="02090604020004020304" pitchFamily="18" charset="77"/>
              </a:rPr>
              <a:t>Predictive Coding Layer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sp>
        <p:nvSpPr>
          <p:cNvPr id="647" name="Google Shape;647;p52">
            <a:extLst>
              <a:ext uri="{FF2B5EF4-FFF2-40B4-BE49-F238E27FC236}">
                <a16:creationId xmlns:a16="http://schemas.microsoft.com/office/drawing/2014/main" id="{84DC936C-6E9F-516D-4FB5-86B1227D82E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373714"/>
            <a:ext cx="7605134" cy="3770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en-US" sz="1200" dirty="0">
                <a:latin typeface="American Typewriter" panose="02090604020004020304" pitchFamily="18" charset="77"/>
              </a:rPr>
              <a:t>Uses a hierarchical network minimizing prediction error.</a:t>
            </a:r>
          </a:p>
          <a:p>
            <a:pPr marL="171450" indent="-171450"/>
            <a:endParaRPr lang="en-US" sz="1200" b="1" dirty="0">
              <a:latin typeface="American Typewriter" panose="02090604020004020304" pitchFamily="18" charset="77"/>
            </a:endParaRPr>
          </a:p>
          <a:p>
            <a:pPr marL="171450" indent="-171450"/>
            <a:r>
              <a:rPr lang="en-US" sz="1200" dirty="0">
                <a:latin typeface="American Typewriter" panose="02090604020004020304" pitchFamily="18" charset="77"/>
              </a:rPr>
              <a:t>Feedforward = residual error / Feedback = prediction.</a:t>
            </a:r>
          </a:p>
          <a:p>
            <a:pPr marL="171450" indent="-171450"/>
            <a:endParaRPr lang="en-US" sz="1200" b="1" dirty="0">
              <a:latin typeface="American Typewriter" panose="02090604020004020304" pitchFamily="18" charset="77"/>
            </a:endParaRPr>
          </a:p>
          <a:p>
            <a:pPr marL="171450" indent="-171450"/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Only unexpected information is propagated</a:t>
            </a:r>
            <a:r>
              <a:rPr lang="en-US" sz="1200" dirty="0">
                <a:latin typeface="American Typewriter" panose="02090604020004020304" pitchFamily="18" charset="77"/>
              </a:rPr>
              <a:t>.</a:t>
            </a: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sz="1200" dirty="0">
              <a:latin typeface="American Typewriter" panose="02090604020004020304" pitchFamily="18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451FA0-4124-EBC8-97C6-A8514478C6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62AC-9218-2541-A582-349CD9993012}" type="slidenum">
              <a:rPr lang="en-US" smtClean="0"/>
              <a:t>22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5296DF-953D-7F2A-92A5-F0E292ACF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046" y="2571750"/>
            <a:ext cx="5781908" cy="2215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5105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6626EA15-DEA8-F649-E379-9E567D5A6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11504F6D-4DC4-BE86-AB0F-034A06097D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>
                <a:latin typeface="American Typewriter" panose="02090604020004020304" pitchFamily="18" charset="77"/>
              </a:rPr>
              <a:t>Predictive Coding Light framework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sp>
        <p:nvSpPr>
          <p:cNvPr id="647" name="Google Shape;647;p52">
            <a:extLst>
              <a:ext uri="{FF2B5EF4-FFF2-40B4-BE49-F238E27FC236}">
                <a16:creationId xmlns:a16="http://schemas.microsoft.com/office/drawing/2014/main" id="{8DA8987C-5B97-BC99-402B-54039FE9BBC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139857"/>
            <a:ext cx="7605134" cy="3770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Concrete implementation of Predictive Coding in SNNs.</a:t>
            </a: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257175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endParaRPr sz="1200" dirty="0">
              <a:latin typeface="American Typewriter" panose="02090604020004020304" pitchFamily="18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89F73A-6528-E76C-AF24-CC991322AD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62AC-9218-2541-A582-349CD9993012}" type="slidenum">
              <a:rPr lang="en-US" smtClean="0"/>
              <a:t>23</a:t>
            </a:fld>
            <a:endParaRPr lang="en-US"/>
          </a:p>
        </p:txBody>
      </p:sp>
      <p:sp>
        <p:nvSpPr>
          <p:cNvPr id="5" name="Google Shape;647;p52">
            <a:extLst>
              <a:ext uri="{FF2B5EF4-FFF2-40B4-BE49-F238E27FC236}">
                <a16:creationId xmlns:a16="http://schemas.microsoft.com/office/drawing/2014/main" id="{4D830BDF-956F-8B69-5CE4-1591A6618501}"/>
              </a:ext>
            </a:extLst>
          </p:cNvPr>
          <p:cNvSpPr txBox="1">
            <a:spLocks/>
          </p:cNvSpPr>
          <p:nvPr/>
        </p:nvSpPr>
        <p:spPr>
          <a:xfrm>
            <a:off x="769433" y="2039231"/>
            <a:ext cx="7605134" cy="37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>
              <a:buFont typeface="Hanken Grotesk"/>
              <a:buNone/>
            </a:pPr>
            <a:r>
              <a:rPr lang="en-US" sz="1200" b="1" dirty="0">
                <a:latin typeface="American Typewriter" panose="02090604020004020304" pitchFamily="18" charset="77"/>
              </a:rPr>
              <a:t>Advantages:</a:t>
            </a:r>
          </a:p>
          <a:p>
            <a:pPr marL="0" indent="0">
              <a:buFont typeface="Hanken Grotesk"/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r>
              <a:rPr lang="en-US" sz="1200" dirty="0">
                <a:latin typeface="American Typewriter" panose="02090604020004020304" pitchFamily="18" charset="77"/>
              </a:rPr>
              <a:t>No residual errors propagation.</a:t>
            </a:r>
          </a:p>
          <a:p>
            <a:pPr marL="171450" indent="-171450"/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Suppresses most predictable spikes</a:t>
            </a:r>
            <a:r>
              <a:rPr lang="en-US" sz="1200" dirty="0">
                <a:latin typeface="American Typewriter" panose="02090604020004020304" pitchFamily="18" charset="77"/>
              </a:rPr>
              <a:t>.</a:t>
            </a:r>
          </a:p>
          <a:p>
            <a:pPr marL="171450" indent="-171450"/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r>
              <a:rPr lang="en-US" sz="1200" dirty="0">
                <a:latin typeface="American Typewriter" panose="02090604020004020304" pitchFamily="18" charset="77"/>
              </a:rPr>
              <a:t>Concrete implementation in SNNs.</a:t>
            </a:r>
          </a:p>
          <a:p>
            <a:pPr marL="171450" indent="-171450"/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r>
              <a:rPr lang="en-US" sz="1200" dirty="0">
                <a:latin typeface="American Typewriter" panose="02090604020004020304" pitchFamily="18" charset="77"/>
              </a:rPr>
              <a:t>Uses inhibitory STDP (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online learning</a:t>
            </a:r>
            <a:r>
              <a:rPr lang="en-US" sz="1200" dirty="0">
                <a:latin typeface="American Typewriter" panose="02090604020004020304" pitchFamily="18" charset="77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8490205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CA5066AE-B721-BB2C-DDAC-94578D7BD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1C12491A-584A-0AFE-0EE3-EEB05250DD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>
                <a:latin typeface="American Typewriter" panose="02090604020004020304" pitchFamily="18" charset="77"/>
              </a:rPr>
              <a:t>Predictive Coding Light framework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E47394-CE02-2FFF-7125-E7A9F9F788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62AC-9218-2541-A582-349CD9993012}" type="slidenum">
              <a:rPr lang="en-US" smtClean="0"/>
              <a:t>24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EA3CDF-5506-81F9-2C98-78999848C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17725"/>
            <a:ext cx="2977714" cy="31644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53E94A-8158-DFF7-FD77-B7357019F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787" y="1017725"/>
            <a:ext cx="3765213" cy="32749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C11468-15F3-41D4-5374-FFACF6383562}"/>
              </a:ext>
            </a:extLst>
          </p:cNvPr>
          <p:cNvSpPr txBox="1"/>
          <p:nvPr/>
        </p:nvSpPr>
        <p:spPr>
          <a:xfrm>
            <a:off x="2020845" y="4329143"/>
            <a:ext cx="50034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N’dri, A. W., Barbier, T., </a:t>
            </a:r>
            <a:r>
              <a:rPr lang="en-US" dirty="0" err="1">
                <a:latin typeface="American Typewriter" panose="02090604020004020304" pitchFamily="18" charset="77"/>
              </a:rPr>
              <a:t>Teulière</a:t>
            </a:r>
            <a:r>
              <a:rPr lang="en-US" dirty="0">
                <a:latin typeface="American Typewriter" panose="02090604020004020304" pitchFamily="18" charset="77"/>
              </a:rPr>
              <a:t>, C. &amp; Triesch, J. Predictive Coding Light. (2025).</a:t>
            </a:r>
          </a:p>
          <a:p>
            <a:endParaRPr lang="en-US" dirty="0">
              <a:latin typeface="American Typewriter" panose="0209060402000402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36178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9DDF545C-6EAE-C1F8-BAC2-36C5E331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648E85ED-99D2-C8E6-2084-AC28AB7B96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5" y="1977150"/>
            <a:ext cx="6592019" cy="16327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200" b="1" dirty="0">
                <a:latin typeface="American Typewriter" panose="02090604020004020304" pitchFamily="18" charset="77"/>
              </a:rPr>
              <a:t>Combination of tactile sensing with other modalities</a:t>
            </a:r>
            <a:endParaRPr sz="3200" b="1" dirty="0">
              <a:latin typeface="American Typewriter" panose="02090604020004020304" pitchFamily="18" charset="77"/>
            </a:endParaRPr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3D749195-6DF5-92DF-F6F6-9198B87AA88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7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EFCC65-A009-9A6F-072D-79F3F74914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1562AC-9218-2541-A582-349CD999301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768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86A0C366-652C-378F-3C3B-7157FB5B2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1214F999-51BA-4A9F-EA62-2C37EBC9E3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>
                <a:latin typeface="American Typewriter" panose="02090604020004020304" pitchFamily="18" charset="77"/>
              </a:rPr>
              <a:t>Modality Fusion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sp>
        <p:nvSpPr>
          <p:cNvPr id="647" name="Google Shape;647;p52">
            <a:extLst>
              <a:ext uri="{FF2B5EF4-FFF2-40B4-BE49-F238E27FC236}">
                <a16:creationId xmlns:a16="http://schemas.microsoft.com/office/drawing/2014/main" id="{14A9C3A1-EF92-F933-3575-FC9E94FDACF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373714"/>
            <a:ext cx="7605134" cy="3770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No single modality is enough for reliable real world perception and action.</a:t>
            </a: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When modalities are fused, the system can stay robust under uncertainty.</a:t>
            </a: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For robust environment exploration, multimodal perception allow to switch from one modality to another in case of occlusion in one of them.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A1A9E4-FF47-A260-DD9D-FE0AC7612A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62AC-9218-2541-A582-349CD999301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066451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w_phd" id="{7DA0C298-FB22-B342-8752-D9945C0E3886}" vid="{AB00EB4F-3D04-6340-A048-9C0D868CF619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Elegant Black &amp; White Thesis Defense by Slidesgo</Template>
  <TotalTime>3194</TotalTime>
  <Words>785</Words>
  <Application>Microsoft Macintosh PowerPoint</Application>
  <PresentationFormat>On-screen Show (16:9)</PresentationFormat>
  <Paragraphs>189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American Typewriter</vt:lpstr>
      <vt:lpstr>Arial</vt:lpstr>
      <vt:lpstr>Figtree Black</vt:lpstr>
      <vt:lpstr>Hanken Grotesk</vt:lpstr>
      <vt:lpstr>Elegant Black &amp; White Thesis Defense by Slidesgo</vt:lpstr>
      <vt:lpstr>SNACE Meeting : 27.11.25</vt:lpstr>
      <vt:lpstr>Why texture perception matters ?</vt:lpstr>
      <vt:lpstr>Texture is a core tactile primitive</vt:lpstr>
      <vt:lpstr>What exactly is texture in the sense of touch ?</vt:lpstr>
      <vt:lpstr>Conventional texture processing pipeline</vt:lpstr>
      <vt:lpstr>Conventional frame-based pipeline</vt:lpstr>
      <vt:lpstr>Frame-based approach shortcomings</vt:lpstr>
      <vt:lpstr>Towards a neuromorphic approach</vt:lpstr>
      <vt:lpstr>Why neuromorphic fits texture ?</vt:lpstr>
      <vt:lpstr>State of the Art in e-Skin Transduction</vt:lpstr>
      <vt:lpstr>Biological Inspiration in Tactile Sensing: Why It Matters</vt:lpstr>
      <vt:lpstr>Why Mechanoreceptors Are Worth Mimicking</vt:lpstr>
      <vt:lpstr>Toward a More Complete Bio-Inspired Texture Recognition Pipeline</vt:lpstr>
      <vt:lpstr>Texture Recognition System Overview</vt:lpstr>
      <vt:lpstr>Tactile Encoding Chip</vt:lpstr>
      <vt:lpstr>Neuromorphic Analog-to-Spike Converter: The Taxel as a Functional Unit</vt:lpstr>
      <vt:lpstr>Neuromorphic frequency extraction</vt:lpstr>
      <vt:lpstr>SOA in Neuromorphic Frequency Extraction</vt:lpstr>
      <vt:lpstr>SOA in Neuromorphic Frequency Extraction</vt:lpstr>
      <vt:lpstr>Efficient Coding Layer</vt:lpstr>
      <vt:lpstr>Efficient Coding Layer</vt:lpstr>
      <vt:lpstr>Predictive Coding Layer</vt:lpstr>
      <vt:lpstr>Predictive Coding Light framework</vt:lpstr>
      <vt:lpstr>Predictive Coding Light framework</vt:lpstr>
      <vt:lpstr>Combination of tactile sensing with other modalities</vt:lpstr>
      <vt:lpstr>Modality Fusion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Halbach Quentin</dc:creator>
  <cp:lastModifiedBy>Halbach Quentin</cp:lastModifiedBy>
  <cp:revision>19</cp:revision>
  <dcterms:created xsi:type="dcterms:W3CDTF">2025-06-09T13:01:44Z</dcterms:created>
  <dcterms:modified xsi:type="dcterms:W3CDTF">2025-11-26T22:45:40Z</dcterms:modified>
</cp:coreProperties>
</file>