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9"/>
  </p:notes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246F09-B46D-4B76-A7F2-69F4525598FB}">
  <a:tblStyle styleId="{38246F09-B46D-4B76-A7F2-69F4525598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7"/>
    <p:restoredTop sz="94597"/>
  </p:normalViewPr>
  <p:slideViewPr>
    <p:cSldViewPr snapToGrid="0">
      <p:cViewPr varScale="1">
        <p:scale>
          <a:sx n="279" d="100"/>
          <a:sy n="279" d="100"/>
        </p:scale>
        <p:origin x="169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F4727CD2-1C14-1D2D-540B-F98C7B68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3A9495A0-7EDC-F516-EB9E-75C0A46E9C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0070D505-5210-FB1B-5BBB-8F378BC195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28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5F6AEB33-3CF7-C6CD-342B-5C16A08FF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A24ED96F-28FF-4774-B7C1-B4C2B656E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11205528-4EA4-EC9F-0EF6-2F06B17578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0853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85AB9B4A-8A33-1EB9-1A12-FEBC41C9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3FB5ED35-0446-F10D-317A-AF60DDE9B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9B4EBC75-027C-450F-0AC7-D3DF89CA9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832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24EDB52-944D-5281-4481-87D9EEC2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1C041D39-A579-5604-E96B-33D4BAACB7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D4D4B56E-FCEF-A0D5-8907-F7DA893EA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7351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99034718-61EA-202D-0882-44845473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B498C799-BB19-4762-4985-E7147DDFE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82550B44-26FE-55F5-8E73-0D21352B7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575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BEA47EAD-64B6-DD54-40C7-6C8A27E7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B0D482C1-9451-A9BA-BADF-75AE184CC7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5DFA72A5-7E60-B481-AC72-CD62B556FD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71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4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9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E93421-C8C8-4AA7-432B-BE7FAF6B4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B2F143-8CAF-2B68-1FC1-E2E468CA97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6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F809CD-BA76-95E5-9FF3-401021DC12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91F8CD-9094-2379-35FF-50042298C8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1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0" lvl="0" indent="-279388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360" lvl="1" indent="-30478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540" lvl="2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20" lvl="3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900" lvl="4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80" lvl="5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60" lvl="6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40" lvl="7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620" lvl="8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19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1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2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3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4"/>
          </p:nvPr>
        </p:nvSpPr>
        <p:spPr>
          <a:xfrm>
            <a:off x="977804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5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6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6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6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1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65" r:id="rId4"/>
    <p:sldLayoutId id="2147483674" r:id="rId5"/>
    <p:sldLayoutId id="2147483675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82.55443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i.org/10.1109/34.491628" TargetMode="External"/><Relationship Id="rId5" Type="http://schemas.openxmlformats.org/officeDocument/2006/relationships/hyperlink" Target="https://doi.org/10.3389/fnins.2020.00451" TargetMode="External"/><Relationship Id="rId4" Type="http://schemas.openxmlformats.org/officeDocument/2006/relationships/hyperlink" Target="https://doi.org/10.1109/JPROC.2014.2346763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403.0972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ir.nii.ac.jp/crid/1130282269863317888" TargetMode="External"/><Relationship Id="rId5" Type="http://schemas.openxmlformats.org/officeDocument/2006/relationships/hyperlink" Target="https://doi.org/10.1109/ACC.2002.1024769" TargetMode="External"/><Relationship Id="rId4" Type="http://schemas.openxmlformats.org/officeDocument/2006/relationships/hyperlink" Target="https://www.accessengineeringlibrary.com/content/book/9780071493758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/>
              <a:t>Progress Meeting : 17.07.25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03F5D8E2-295D-5022-B34C-5BC7F385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A8198AFD-29F1-BADC-0DD2-77674A976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/>
              <a:t>Possible Tactile Applications</a:t>
            </a:r>
            <a:endParaRPr dirty="0"/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7E9443BB-3772-FC3B-16E3-AB785E81D9D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0529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7DD91A59-3239-34B0-44E7-3FDC93F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CE98909A-5898-5C6C-8167-447328068F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Motion Detection</a:t>
            </a:r>
            <a:endParaRPr b="1" dirty="0"/>
          </a:p>
        </p:txBody>
      </p:sp>
      <p:sp>
        <p:nvSpPr>
          <p:cNvPr id="509" name="Google Shape;509;p46">
            <a:extLst>
              <a:ext uri="{FF2B5EF4-FFF2-40B4-BE49-F238E27FC236}">
                <a16:creationId xmlns:a16="http://schemas.microsoft.com/office/drawing/2014/main" id="{955437C4-EB51-DFC6-F0FA-C515C5543AA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42122" y="1700924"/>
            <a:ext cx="2313852" cy="15920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/>
              <a:t>Identify </a:t>
            </a:r>
            <a:r>
              <a:rPr lang="en" dirty="0">
                <a:solidFill>
                  <a:srgbClr val="0070C0"/>
                </a:solidFill>
              </a:rPr>
              <a:t>tactile motion and direction </a:t>
            </a:r>
            <a:r>
              <a:rPr lang="en" dirty="0"/>
              <a:t>on a 2-D grid of sensors</a:t>
            </a:r>
            <a:endParaRPr dirty="0"/>
          </a:p>
        </p:txBody>
      </p:sp>
      <p:sp>
        <p:nvSpPr>
          <p:cNvPr id="510" name="Google Shape;510;p46">
            <a:extLst>
              <a:ext uri="{FF2B5EF4-FFF2-40B4-BE49-F238E27FC236}">
                <a16:creationId xmlns:a16="http://schemas.microsoft.com/office/drawing/2014/main" id="{71A9FB55-24CD-22E9-C65D-514CAC05019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50748" y="1850521"/>
            <a:ext cx="2242500" cy="14424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/>
              <a:t>Using </a:t>
            </a:r>
            <a:r>
              <a:rPr lang="en" dirty="0" err="1">
                <a:solidFill>
                  <a:srgbClr val="0070C0"/>
                </a:solidFill>
              </a:rPr>
              <a:t>Spatio</a:t>
            </a:r>
            <a:r>
              <a:rPr lang="en" dirty="0">
                <a:solidFill>
                  <a:srgbClr val="0070C0"/>
                </a:solidFill>
              </a:rPr>
              <a:t>-Temporal filtering </a:t>
            </a:r>
            <a:r>
              <a:rPr lang="en" dirty="0"/>
              <a:t>leveraging </a:t>
            </a:r>
            <a:r>
              <a:rPr lang="en" dirty="0">
                <a:solidFill>
                  <a:srgbClr val="0070C0"/>
                </a:solidFill>
              </a:rPr>
              <a:t>dendritic computation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511" name="Google Shape;511;p46">
            <a:extLst>
              <a:ext uri="{FF2B5EF4-FFF2-40B4-BE49-F238E27FC236}">
                <a16:creationId xmlns:a16="http://schemas.microsoft.com/office/drawing/2014/main" id="{E29FB2A8-5DF8-5B65-DFC7-CB29D3616CC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923700" y="1818127"/>
            <a:ext cx="2242500" cy="1507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fr-FR" dirty="0"/>
              <a:t>Model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implemented</a:t>
            </a:r>
            <a:r>
              <a:rPr lang="fr-FR" dirty="0"/>
              <a:t> </a:t>
            </a:r>
            <a:r>
              <a:rPr lang="fr-FR" dirty="0" err="1"/>
              <a:t>robustly</a:t>
            </a:r>
            <a:r>
              <a:rPr lang="fr-FR" dirty="0"/>
              <a:t> on CMOS chip</a:t>
            </a:r>
            <a:endParaRPr dirty="0"/>
          </a:p>
        </p:txBody>
      </p:sp>
      <p:cxnSp>
        <p:nvCxnSpPr>
          <p:cNvPr id="536" name="Google Shape;536;p46">
            <a:extLst>
              <a:ext uri="{FF2B5EF4-FFF2-40B4-BE49-F238E27FC236}">
                <a16:creationId xmlns:a16="http://schemas.microsoft.com/office/drawing/2014/main" id="{297F7DA6-D025-BB8A-C460-6018D5670786}"/>
              </a:ext>
            </a:extLst>
          </p:cNvPr>
          <p:cNvCxnSpPr>
            <a:cxnSpLocks/>
          </p:cNvCxnSpPr>
          <p:nvPr/>
        </p:nvCxnSpPr>
        <p:spPr>
          <a:xfrm>
            <a:off x="7044950" y="3760967"/>
            <a:ext cx="0" cy="14424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46">
            <a:extLst>
              <a:ext uri="{FF2B5EF4-FFF2-40B4-BE49-F238E27FC236}">
                <a16:creationId xmlns:a16="http://schemas.microsoft.com/office/drawing/2014/main" id="{D7578473-6F92-AC27-2DF8-264BF8BD4E9B}"/>
              </a:ext>
            </a:extLst>
          </p:cNvPr>
          <p:cNvCxnSpPr>
            <a:cxnSpLocks/>
          </p:cNvCxnSpPr>
          <p:nvPr/>
        </p:nvCxnSpPr>
        <p:spPr>
          <a:xfrm>
            <a:off x="4571998" y="3760967"/>
            <a:ext cx="0" cy="14424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46">
            <a:extLst>
              <a:ext uri="{FF2B5EF4-FFF2-40B4-BE49-F238E27FC236}">
                <a16:creationId xmlns:a16="http://schemas.microsoft.com/office/drawing/2014/main" id="{94F14CCB-1815-2829-8AF7-7A48A4B7877B}"/>
              </a:ext>
            </a:extLst>
          </p:cNvPr>
          <p:cNvCxnSpPr>
            <a:cxnSpLocks/>
          </p:cNvCxnSpPr>
          <p:nvPr/>
        </p:nvCxnSpPr>
        <p:spPr>
          <a:xfrm>
            <a:off x="2099048" y="3760967"/>
            <a:ext cx="0" cy="143345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93948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B0B14C52-5A5C-C660-BE1A-FBE0CFE2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F2B393C7-E1F3-0E00-3A5F-A8E9B5ABED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1" dirty="0"/>
              <a:t>Motion detection : Literature review</a:t>
            </a:r>
            <a:endParaRPr b="1" dirty="0"/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A1077188-1A12-F78C-55B5-418B13C83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17726"/>
            <a:ext cx="7704000" cy="38325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J. Krammer and C. Koch, “Pulse-based analog VLSI velocity sensors,” </a:t>
            </a:r>
            <a:r>
              <a:rPr lang="en-US" i="1" dirty="0"/>
              <a:t>IEEE Transactions on Circuits and Systems II: Analog and Digital Signal Processing</a:t>
            </a:r>
            <a:r>
              <a:rPr lang="en-US" dirty="0"/>
              <a:t>, vol. 44, no. 2, pp. 86–101, Feb. 1997,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10.1109/82.554431</a:t>
            </a:r>
            <a:r>
              <a:rPr lang="en-US" dirty="0"/>
              <a:t>.</a:t>
            </a:r>
          </a:p>
          <a:p>
            <a:pPr marL="177792" indent="0">
              <a:buNone/>
            </a:pPr>
            <a:endParaRPr lang="en-US" dirty="0"/>
          </a:p>
          <a:p>
            <a:r>
              <a:rPr lang="en-US" dirty="0"/>
              <a:t>G. Orchard and R. Etienne-Cummings, “Bioinspired Visual Motion Estimation,” </a:t>
            </a:r>
            <a:r>
              <a:rPr lang="en-US" i="1" dirty="0"/>
              <a:t>Proceedings of the IEEE</a:t>
            </a:r>
            <a:r>
              <a:rPr lang="en-US" dirty="0"/>
              <a:t>, vol. 102, no. 10, pp. 1520–1536, Oct. 2014,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10.1109/JPROC.2014.2346763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G. D’Angelo </a:t>
            </a:r>
            <a:r>
              <a:rPr lang="en-US" i="1" dirty="0"/>
              <a:t>et al.</a:t>
            </a:r>
            <a:r>
              <a:rPr lang="en-US" dirty="0"/>
              <a:t>, “Event-Based Eccentric Motion Detection Exploiting Time Difference Encoding,” </a:t>
            </a:r>
            <a:r>
              <a:rPr lang="en-US" i="1" dirty="0"/>
              <a:t>Front. </a:t>
            </a:r>
            <a:r>
              <a:rPr lang="en-US" i="1" dirty="0" err="1"/>
              <a:t>Neurosci</a:t>
            </a:r>
            <a:r>
              <a:rPr lang="en-US" i="1" dirty="0"/>
              <a:t>.</a:t>
            </a:r>
            <a:r>
              <a:rPr lang="en-US" dirty="0"/>
              <a:t>, vol. 14, May 2020,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10.3389/fnins.2020.00451</a:t>
            </a:r>
            <a:r>
              <a:rPr lang="en-US" dirty="0"/>
              <a:t>.</a:t>
            </a:r>
          </a:p>
          <a:p>
            <a:pPr marL="177792" indent="0">
              <a:buNone/>
            </a:pPr>
            <a:endParaRPr lang="en-US" dirty="0"/>
          </a:p>
          <a:p>
            <a:r>
              <a:rPr lang="en-US" dirty="0"/>
              <a:t>S.-C. Liu, “Silicon Model of Motion Adaptation in the Fly Visual System,” 1996.</a:t>
            </a:r>
          </a:p>
          <a:p>
            <a:pPr marL="177792" indent="0">
              <a:buNone/>
            </a:pPr>
            <a:endParaRPr lang="en-US" dirty="0"/>
          </a:p>
          <a:p>
            <a:r>
              <a:rPr lang="en-US" dirty="0"/>
              <a:t>J. Kramer, “Compact integrated motion sensor with three-pixel interaction,” </a:t>
            </a:r>
            <a:r>
              <a:rPr lang="en-US" i="1" dirty="0"/>
              <a:t>IEEE Transactions on Pattern Analysis and Machine Intelligence</a:t>
            </a:r>
            <a:r>
              <a:rPr lang="en-US" dirty="0"/>
              <a:t>, vol. 18, no. 4, pp. 455–460, Apr. 1996,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6"/>
              </a:rPr>
              <a:t>10.1109/34.491628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7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431E32AE-A43D-BE79-98C2-82ABB6FA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5289B657-F7C0-4664-2BEC-6F49F7A8A2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Texture Recognition</a:t>
            </a:r>
            <a:endParaRPr b="1" dirty="0"/>
          </a:p>
        </p:txBody>
      </p:sp>
      <p:sp>
        <p:nvSpPr>
          <p:cNvPr id="509" name="Google Shape;509;p46">
            <a:extLst>
              <a:ext uri="{FF2B5EF4-FFF2-40B4-BE49-F238E27FC236}">
                <a16:creationId xmlns:a16="http://schemas.microsoft.com/office/drawing/2014/main" id="{929BEDE7-573C-500B-7244-8B875A27AE5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77805" y="2141638"/>
            <a:ext cx="2242500" cy="11281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/>
              <a:t>Identify tactile texture upon contact with an object</a:t>
            </a:r>
            <a:endParaRPr dirty="0"/>
          </a:p>
        </p:txBody>
      </p:sp>
      <p:sp>
        <p:nvSpPr>
          <p:cNvPr id="510" name="Google Shape;510;p46">
            <a:extLst>
              <a:ext uri="{FF2B5EF4-FFF2-40B4-BE49-F238E27FC236}">
                <a16:creationId xmlns:a16="http://schemas.microsoft.com/office/drawing/2014/main" id="{2BC3F4FE-514F-92D6-D488-B12B488763F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50748" y="1850521"/>
            <a:ext cx="2242500" cy="14424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>
                <a:solidFill>
                  <a:srgbClr val="0070C0"/>
                </a:solidFill>
              </a:rPr>
              <a:t>Leverage Phase-Locked Loop </a:t>
            </a:r>
            <a:r>
              <a:rPr lang="en" dirty="0"/>
              <a:t>system / explore other methods </a:t>
            </a:r>
            <a:endParaRPr dirty="0"/>
          </a:p>
        </p:txBody>
      </p:sp>
      <p:sp>
        <p:nvSpPr>
          <p:cNvPr id="511" name="Google Shape;511;p46">
            <a:extLst>
              <a:ext uri="{FF2B5EF4-FFF2-40B4-BE49-F238E27FC236}">
                <a16:creationId xmlns:a16="http://schemas.microsoft.com/office/drawing/2014/main" id="{25C9CCD1-590C-1036-17C5-50061888D9A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923695" y="1827322"/>
            <a:ext cx="2242500" cy="14424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fr-FR" dirty="0"/>
              <a:t>Model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implemented</a:t>
            </a:r>
            <a:r>
              <a:rPr lang="fr-FR" dirty="0"/>
              <a:t> </a:t>
            </a:r>
            <a:r>
              <a:rPr lang="fr-FR" dirty="0" err="1"/>
              <a:t>robustly</a:t>
            </a:r>
            <a:r>
              <a:rPr lang="fr-FR" dirty="0"/>
              <a:t> on CMOS chip</a:t>
            </a:r>
            <a:endParaRPr dirty="0"/>
          </a:p>
        </p:txBody>
      </p:sp>
      <p:cxnSp>
        <p:nvCxnSpPr>
          <p:cNvPr id="536" name="Google Shape;536;p46">
            <a:extLst>
              <a:ext uri="{FF2B5EF4-FFF2-40B4-BE49-F238E27FC236}">
                <a16:creationId xmlns:a16="http://schemas.microsoft.com/office/drawing/2014/main" id="{39B79709-3FB9-B55C-FEB0-9D213D065892}"/>
              </a:ext>
            </a:extLst>
          </p:cNvPr>
          <p:cNvCxnSpPr>
            <a:cxnSpLocks/>
          </p:cNvCxnSpPr>
          <p:nvPr/>
        </p:nvCxnSpPr>
        <p:spPr>
          <a:xfrm>
            <a:off x="7044950" y="3760967"/>
            <a:ext cx="0" cy="14424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46">
            <a:extLst>
              <a:ext uri="{FF2B5EF4-FFF2-40B4-BE49-F238E27FC236}">
                <a16:creationId xmlns:a16="http://schemas.microsoft.com/office/drawing/2014/main" id="{B238740C-7480-8140-3B8F-172CC6D25AB9}"/>
              </a:ext>
            </a:extLst>
          </p:cNvPr>
          <p:cNvCxnSpPr>
            <a:cxnSpLocks/>
          </p:cNvCxnSpPr>
          <p:nvPr/>
        </p:nvCxnSpPr>
        <p:spPr>
          <a:xfrm>
            <a:off x="4571998" y="3760967"/>
            <a:ext cx="0" cy="14424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46">
            <a:extLst>
              <a:ext uri="{FF2B5EF4-FFF2-40B4-BE49-F238E27FC236}">
                <a16:creationId xmlns:a16="http://schemas.microsoft.com/office/drawing/2014/main" id="{5E3A7769-5608-7A44-62BB-DA7B7A48BAEF}"/>
              </a:ext>
            </a:extLst>
          </p:cNvPr>
          <p:cNvCxnSpPr>
            <a:cxnSpLocks/>
          </p:cNvCxnSpPr>
          <p:nvPr/>
        </p:nvCxnSpPr>
        <p:spPr>
          <a:xfrm>
            <a:off x="2099048" y="3760967"/>
            <a:ext cx="0" cy="143345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38109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F524214C-6EFE-430D-1562-669B604D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3594AC81-F58F-CFAF-ED2C-2CA05930DF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1" dirty="0"/>
              <a:t>Texture recognition : Literature review</a:t>
            </a:r>
            <a:endParaRPr b="1" dirty="0"/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FADCB24E-26BA-5589-ED4C-BF27B12312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17726"/>
            <a:ext cx="7704000" cy="38325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M. Mastella, T. Tiemens, and E. Chicca, “Texture Recognition Using a Biologically Plausible Spiking Phase-Locked Loop Model for Spike Train Frequency Decomposition,” Mar. 12, 2024, </a:t>
            </a:r>
            <a:r>
              <a:rPr lang="en-US" i="1" dirty="0" err="1"/>
              <a:t>arXiv</a:t>
            </a:r>
            <a:r>
              <a:rPr lang="en-US" dirty="0"/>
              <a:t>: arXiv:2403.09723.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10.48550/arXiv.2403.09723</a:t>
            </a:r>
            <a:r>
              <a:rPr lang="en-US" dirty="0"/>
              <a:t>.</a:t>
            </a:r>
          </a:p>
          <a:p>
            <a:pPr marL="177792" indent="0">
              <a:buNone/>
            </a:pPr>
            <a:endParaRPr lang="en-US" dirty="0"/>
          </a:p>
          <a:p>
            <a:r>
              <a:rPr lang="en-US" dirty="0"/>
              <a:t>R. E. Best, </a:t>
            </a:r>
            <a:r>
              <a:rPr lang="en-US" i="1" dirty="0"/>
              <a:t>Phase-Locked Loops: Design, Simulation, and Applications</a:t>
            </a:r>
            <a:r>
              <a:rPr lang="en-US" dirty="0"/>
              <a:t>, 6th Edition. McGraw-Hill Education, 2007. Accessed: Jul. 14, 2025. [Online]. Available: </a:t>
            </a:r>
            <a:r>
              <a:rPr lang="en-US" dirty="0">
                <a:hlinkClick r:id="rId4"/>
              </a:rPr>
              <a:t>https://www.accessengineeringlibrary.com/content/book/9780071493758</a:t>
            </a:r>
            <a:endParaRPr lang="en-US" dirty="0"/>
          </a:p>
          <a:p>
            <a:pPr marL="177792" indent="0">
              <a:buNone/>
            </a:pPr>
            <a:endParaRPr lang="en-US" dirty="0"/>
          </a:p>
          <a:p>
            <a:r>
              <a:rPr lang="en-US" dirty="0"/>
              <a:t>D. Abramovitch, “Phase-locked loops: a control centric tutorial,” in </a:t>
            </a:r>
            <a:r>
              <a:rPr lang="en-US" i="1" dirty="0"/>
              <a:t>Proceedings of the 2002 American Control Conference</a:t>
            </a:r>
            <a:r>
              <a:rPr lang="en-US" dirty="0"/>
              <a:t>, May 2002, pp. 1–15 vol.1.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10.1109/ACC.2002.1024769</a:t>
            </a:r>
            <a:r>
              <a:rPr lang="en-US" dirty="0"/>
              <a:t>.</a:t>
            </a:r>
          </a:p>
          <a:p>
            <a:pPr marL="177792" indent="0">
              <a:buNone/>
            </a:pPr>
            <a:endParaRPr lang="en-US" dirty="0"/>
          </a:p>
          <a:p>
            <a:r>
              <a:rPr lang="en-US" dirty="0"/>
              <a:t>D. H. Wolaver, </a:t>
            </a:r>
            <a:r>
              <a:rPr lang="en-US" i="1" dirty="0"/>
              <a:t>Phase-locked loop circuit design</a:t>
            </a:r>
            <a:r>
              <a:rPr lang="en-US" dirty="0"/>
              <a:t>. in Prentice Hall biophysics and bioengineering series. Prentice Hall, 1991. Accessed: Jul. 14, 2025. [Online]. Available: </a:t>
            </a:r>
            <a:r>
              <a:rPr lang="en-US" dirty="0">
                <a:hlinkClick r:id="rId6"/>
              </a:rPr>
              <a:t>https://cir.nii.ac.jp/crid/1130282269863317888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6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FC33A0BC-0413-1399-FBC6-D46C1B45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C006D8B3-48BA-51DD-EF61-A685BA027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Possibles Dates for SNACE in-person Meeting</a:t>
            </a:r>
            <a:endParaRPr b="1" dirty="0"/>
          </a:p>
        </p:txBody>
      </p:sp>
      <p:sp>
        <p:nvSpPr>
          <p:cNvPr id="509" name="Google Shape;509;p46">
            <a:extLst>
              <a:ext uri="{FF2B5EF4-FFF2-40B4-BE49-F238E27FC236}">
                <a16:creationId xmlns:a16="http://schemas.microsoft.com/office/drawing/2014/main" id="{5D0E2EAA-2896-F91F-3CF0-9F192A1ED1B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77805" y="2141638"/>
            <a:ext cx="2242500" cy="11281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fr-FR" b="1" dirty="0"/>
              <a:t>11th-13th</a:t>
            </a:r>
            <a:r>
              <a:rPr lang="fr-FR" dirty="0"/>
              <a:t>/ </a:t>
            </a:r>
            <a:r>
              <a:rPr lang="fr-FR" b="1" dirty="0"/>
              <a:t>12th-14th</a:t>
            </a:r>
            <a:r>
              <a:rPr lang="fr-FR" dirty="0"/>
              <a:t> </a:t>
            </a:r>
            <a:r>
              <a:rPr lang="fr-FR" dirty="0" err="1"/>
              <a:t>November</a:t>
            </a:r>
            <a:r>
              <a:rPr lang="fr-FR" dirty="0"/>
              <a:t> 2025</a:t>
            </a:r>
            <a:endParaRPr dirty="0"/>
          </a:p>
        </p:txBody>
      </p:sp>
      <p:cxnSp>
        <p:nvCxnSpPr>
          <p:cNvPr id="536" name="Google Shape;536;p46">
            <a:extLst>
              <a:ext uri="{FF2B5EF4-FFF2-40B4-BE49-F238E27FC236}">
                <a16:creationId xmlns:a16="http://schemas.microsoft.com/office/drawing/2014/main" id="{3BD615AC-B98B-CD36-9FD1-8DD5E335B695}"/>
              </a:ext>
            </a:extLst>
          </p:cNvPr>
          <p:cNvCxnSpPr>
            <a:cxnSpLocks/>
          </p:cNvCxnSpPr>
          <p:nvPr/>
        </p:nvCxnSpPr>
        <p:spPr>
          <a:xfrm>
            <a:off x="7044950" y="3760967"/>
            <a:ext cx="0" cy="14424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46">
            <a:extLst>
              <a:ext uri="{FF2B5EF4-FFF2-40B4-BE49-F238E27FC236}">
                <a16:creationId xmlns:a16="http://schemas.microsoft.com/office/drawing/2014/main" id="{BFA02BE9-A190-FC69-F08A-520CD0833C13}"/>
              </a:ext>
            </a:extLst>
          </p:cNvPr>
          <p:cNvCxnSpPr>
            <a:cxnSpLocks/>
          </p:cNvCxnSpPr>
          <p:nvPr/>
        </p:nvCxnSpPr>
        <p:spPr>
          <a:xfrm>
            <a:off x="4571998" y="3760967"/>
            <a:ext cx="0" cy="14424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46">
            <a:extLst>
              <a:ext uri="{FF2B5EF4-FFF2-40B4-BE49-F238E27FC236}">
                <a16:creationId xmlns:a16="http://schemas.microsoft.com/office/drawing/2014/main" id="{7104ECBF-9964-B5AB-19AC-8369F077D533}"/>
              </a:ext>
            </a:extLst>
          </p:cNvPr>
          <p:cNvCxnSpPr>
            <a:cxnSpLocks/>
          </p:cNvCxnSpPr>
          <p:nvPr/>
        </p:nvCxnSpPr>
        <p:spPr>
          <a:xfrm>
            <a:off x="2099048" y="3760967"/>
            <a:ext cx="0" cy="143345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509;p46">
            <a:extLst>
              <a:ext uri="{FF2B5EF4-FFF2-40B4-BE49-F238E27FC236}">
                <a16:creationId xmlns:a16="http://schemas.microsoft.com/office/drawing/2014/main" id="{D026B344-66AE-5DC6-2A77-5FD34FDF16DF}"/>
              </a:ext>
            </a:extLst>
          </p:cNvPr>
          <p:cNvSpPr txBox="1">
            <a:spLocks/>
          </p:cNvSpPr>
          <p:nvPr/>
        </p:nvSpPr>
        <p:spPr>
          <a:xfrm>
            <a:off x="3450748" y="2141637"/>
            <a:ext cx="2242500" cy="1128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19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marL="0" indent="0"/>
            <a:r>
              <a:rPr lang="fr-FR" b="1" dirty="0"/>
              <a:t>25th-27th</a:t>
            </a:r>
            <a:r>
              <a:rPr lang="fr-FR" dirty="0"/>
              <a:t> / </a:t>
            </a:r>
            <a:r>
              <a:rPr lang="fr-FR" b="1" dirty="0"/>
              <a:t>26th-28th</a:t>
            </a:r>
            <a:r>
              <a:rPr lang="fr-FR" dirty="0"/>
              <a:t> </a:t>
            </a:r>
            <a:r>
              <a:rPr lang="fr-FR" dirty="0" err="1"/>
              <a:t>November</a:t>
            </a:r>
            <a:r>
              <a:rPr lang="fr-FR" dirty="0"/>
              <a:t> 2025</a:t>
            </a:r>
          </a:p>
        </p:txBody>
      </p:sp>
      <p:sp>
        <p:nvSpPr>
          <p:cNvPr id="7" name="Google Shape;509;p46">
            <a:extLst>
              <a:ext uri="{FF2B5EF4-FFF2-40B4-BE49-F238E27FC236}">
                <a16:creationId xmlns:a16="http://schemas.microsoft.com/office/drawing/2014/main" id="{E8071104-284B-479B-341A-C14097528511}"/>
              </a:ext>
            </a:extLst>
          </p:cNvPr>
          <p:cNvSpPr txBox="1">
            <a:spLocks/>
          </p:cNvSpPr>
          <p:nvPr/>
        </p:nvSpPr>
        <p:spPr>
          <a:xfrm>
            <a:off x="6047049" y="2141637"/>
            <a:ext cx="1995801" cy="1128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19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marL="0" indent="0"/>
            <a:r>
              <a:rPr lang="fr-FR" b="1" dirty="0"/>
              <a:t>9th-11th</a:t>
            </a:r>
            <a:r>
              <a:rPr lang="fr-FR" dirty="0"/>
              <a:t> / </a:t>
            </a:r>
            <a:r>
              <a:rPr lang="fr-FR" b="1" dirty="0"/>
              <a:t>10th-12th</a:t>
            </a:r>
            <a:r>
              <a:rPr lang="fr-FR" dirty="0"/>
              <a:t> </a:t>
            </a:r>
            <a:r>
              <a:rPr lang="fr-FR" dirty="0" err="1"/>
              <a:t>December</a:t>
            </a:r>
            <a:r>
              <a:rPr lang="fr-FR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111432356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_phd" id="{7DA0C298-FB22-B342-8752-D9945C0E3886}" vid="{AB00EB4F-3D04-6340-A048-9C0D868CF61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Elegant Black &amp; White Thesis Defense by Slidesgo</Template>
  <TotalTime>110</TotalTime>
  <Words>473</Words>
  <Application>Microsoft Macintosh PowerPoint</Application>
  <PresentationFormat>On-screen Show (16:9)</PresentationFormat>
  <Paragraphs>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Figtree Black</vt:lpstr>
      <vt:lpstr>Hanken Grotesk</vt:lpstr>
      <vt:lpstr>Elegant Black &amp; White Thesis Defense by Slidesgo</vt:lpstr>
      <vt:lpstr>Progress Meeting : 17.07.25</vt:lpstr>
      <vt:lpstr>Possible Tactile Applications</vt:lpstr>
      <vt:lpstr>Motion Detection</vt:lpstr>
      <vt:lpstr>Motion detection : Literature review</vt:lpstr>
      <vt:lpstr>Texture Recognition</vt:lpstr>
      <vt:lpstr>Texture recognition : Literature review</vt:lpstr>
      <vt:lpstr>Possibles Dates for SNACE in-person Meeting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Halbach Quentin</dc:creator>
  <cp:lastModifiedBy>Halbach Quentin</cp:lastModifiedBy>
  <cp:revision>5</cp:revision>
  <dcterms:created xsi:type="dcterms:W3CDTF">2025-06-09T13:01:44Z</dcterms:created>
  <dcterms:modified xsi:type="dcterms:W3CDTF">2025-07-17T07:18:09Z</dcterms:modified>
</cp:coreProperties>
</file>