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8"/>
  </p:notesMasterIdLst>
  <p:sldIdLst>
    <p:sldId id="256" r:id="rId2"/>
    <p:sldId id="278" r:id="rId3"/>
    <p:sldId id="283" r:id="rId4"/>
    <p:sldId id="284" r:id="rId5"/>
    <p:sldId id="285" r:id="rId6"/>
    <p:sldId id="286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0"/>
    <p:restoredTop sz="94590"/>
  </p:normalViewPr>
  <p:slideViewPr>
    <p:cSldViewPr snapToGrid="0">
      <p:cViewPr varScale="1">
        <p:scale>
          <a:sx n="209" d="100"/>
          <a:sy n="209" d="100"/>
        </p:scale>
        <p:origin x="160" y="2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7" d="100"/>
          <a:sy n="127" d="100"/>
        </p:scale>
        <p:origin x="44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5F6AEB33-3CF7-C6CD-342B-5C16A08F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A24ED96F-28FF-4774-B7C1-B4C2B656E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11205528-4EA4-EC9F-0EF6-2F06B1757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853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71DA9A96-67E5-8B39-1955-D3A1660C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F5673EB1-CD98-5282-0F9E-4EFC093DD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4373072D-F27B-ACA2-7B1E-8F3B97BF4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752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B9801D46-94F2-C8A0-D10B-6DF7A898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F0B03683-3E6D-39BA-399F-D2D285DDA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14E8EF0E-E97D-A507-16AB-37F3A0692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17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7E7BADDA-6543-9007-01AD-596C9DA3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BCE76FC8-755F-F3DE-5DAB-187B6CA9D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42DC7BCF-364A-12C0-E298-3093A1E1E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614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866231C0-CF86-B875-B662-0E7800E6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CF96FDAB-6DF0-B097-940F-A87742AFD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86C506AF-EDC4-28F4-AE67-B461569F7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7008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4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5" r:id="rId2"/>
    <p:sldLayoutId id="2147483674" r:id="rId3"/>
    <p:sldLayoutId id="2147483675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6535572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latin typeface="American Typewriter" panose="02090604020004020304" pitchFamily="18" charset="77"/>
              </a:rPr>
              <a:t>SNACE Progress Meeting </a:t>
            </a:r>
            <a:r>
              <a:rPr lang="en" dirty="0"/>
              <a:t>: </a:t>
            </a:r>
            <a:r>
              <a:rPr lang="en" dirty="0">
                <a:latin typeface="American Typewriter" panose="02090604020004020304" pitchFamily="18" charset="77"/>
              </a:rPr>
              <a:t>18.08.25</a:t>
            </a:r>
            <a:endParaRPr dirty="0">
              <a:latin typeface="American Typewriter" panose="02090604020004020304" pitchFamily="18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7DD91A59-3239-34B0-44E7-3FDC93F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CE98909A-5898-5C6C-8167-447328068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latin typeface="American Typewriter" panose="02090604020004020304" pitchFamily="18" charset="77"/>
              </a:rPr>
              <a:t>Recap : Why use a bursting neuron in a PLL ?</a:t>
            </a:r>
            <a:endParaRPr sz="2400" b="1" dirty="0">
              <a:latin typeface="American Typewriter" panose="02090604020004020304" pitchFamily="18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A04B5-2AC9-DC3C-C020-778BC22B425E}"/>
              </a:ext>
            </a:extLst>
          </p:cNvPr>
          <p:cNvSpPr txBox="1"/>
          <p:nvPr/>
        </p:nvSpPr>
        <p:spPr>
          <a:xfrm>
            <a:off x="287012" y="1430391"/>
            <a:ext cx="861966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erican Typewriter" panose="02090604020004020304" pitchFamily="18" charset="77"/>
              </a:rPr>
              <a:t>A bursting neuron alternates between active spiking phases and silent phases in a repeating cycle.</a:t>
            </a:r>
          </a:p>
          <a:p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Symbol" pitchFamily="2" charset="2"/>
              <a:buChar char="Þ"/>
            </a:pPr>
            <a:r>
              <a:rPr lang="en-US" b="1" dirty="0">
                <a:latin typeface="American Typewriter" panose="02090604020004020304" pitchFamily="18" charset="77"/>
              </a:rPr>
              <a:t>Defines a natural rhythmic oscillation at the burst timescale</a:t>
            </a:r>
          </a:p>
          <a:p>
            <a:pPr marL="285750" indent="-285750">
              <a:buFont typeface="Symbol" pitchFamily="2" charset="2"/>
              <a:buChar char="Þ"/>
            </a:pPr>
            <a:endParaRPr lang="en-US" b="1" dirty="0">
              <a:latin typeface="American Typewriter" panose="02090604020004020304" pitchFamily="18" charset="77"/>
            </a:endParaRPr>
          </a:p>
          <a:p>
            <a:pPr marL="285750" indent="-285750">
              <a:buFont typeface="Symbol" pitchFamily="2" charset="2"/>
              <a:buChar char="Þ"/>
            </a:pPr>
            <a:endParaRPr lang="en-US" b="1" dirty="0">
              <a:latin typeface="American Typewriter" panose="02090604020004020304" pitchFamily="18" charset="77"/>
            </a:endParaRPr>
          </a:p>
          <a:p>
            <a:pPr marL="285750" indent="-285750">
              <a:buFont typeface="Symbol" pitchFamily="2" charset="2"/>
              <a:buChar char="Þ"/>
            </a:pPr>
            <a:endParaRPr lang="en-US" b="1" dirty="0">
              <a:latin typeface="American Typewriter" panose="02090604020004020304" pitchFamily="18" charset="77"/>
            </a:endParaRPr>
          </a:p>
          <a:p>
            <a:r>
              <a:rPr lang="en-US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Therefore, it acts as a biological oscillator.</a:t>
            </a:r>
          </a:p>
          <a:p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Its phase and frequency can be shifted by external inputs</a:t>
            </a:r>
          </a:p>
          <a:p>
            <a:endParaRPr lang="en-US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Symbol" pitchFamily="2" charset="2"/>
              <a:buChar char="Þ"/>
            </a:pPr>
            <a:r>
              <a:rPr lang="en-US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Can play the role of a controlled oscillator in a PLL.</a:t>
            </a:r>
          </a:p>
          <a:p>
            <a:pPr marL="285750" indent="-285750">
              <a:buFont typeface="Symbol" pitchFamily="2" charset="2"/>
              <a:buChar char="Þ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4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5020ED91-2618-40DF-BD57-07F8630B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8293DB1C-E74E-2CCD-2447-10C30FC238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American Typewriter" panose="02090604020004020304" pitchFamily="18" charset="77"/>
              </a:rPr>
              <a:t>Current Stage </a:t>
            </a:r>
            <a:endParaRPr b="1" dirty="0">
              <a:latin typeface="American Typewriter" panose="02090604020004020304" pitchFamily="18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73D4B6-53ED-0D9C-0B2C-5AA925EA0748}"/>
              </a:ext>
            </a:extLst>
          </p:cNvPr>
          <p:cNvSpPr/>
          <p:nvPr/>
        </p:nvSpPr>
        <p:spPr>
          <a:xfrm>
            <a:off x="1318461" y="2180570"/>
            <a:ext cx="2177716" cy="1768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erican Typewriter" panose="02090604020004020304" pitchFamily="18" charset="77"/>
              </a:rPr>
              <a:t>PLL with neuron as Controlled Oscillator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A4CB2-543D-8AF8-7621-1D5249DCF9E3}"/>
              </a:ext>
            </a:extLst>
          </p:cNvPr>
          <p:cNvSpPr txBox="1"/>
          <p:nvPr/>
        </p:nvSpPr>
        <p:spPr>
          <a:xfrm>
            <a:off x="1693485" y="1556300"/>
            <a:ext cx="1427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erican Typewriter" panose="02090604020004020304" pitchFamily="18" charset="77"/>
              </a:rPr>
              <a:t>Conceptual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FCB92-462F-B583-B425-179DE7C0CB43}"/>
              </a:ext>
            </a:extLst>
          </p:cNvPr>
          <p:cNvSpPr/>
          <p:nvPr/>
        </p:nvSpPr>
        <p:spPr>
          <a:xfrm>
            <a:off x="5647823" y="2180570"/>
            <a:ext cx="2177716" cy="1768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merican Typewriter" panose="02090604020004020304" pitchFamily="18" charset="77"/>
              </a:rPr>
              <a:t>PRC theory for oscillator synchronization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EA14D-5BAB-53B9-A014-860D64AF293D}"/>
              </a:ext>
            </a:extLst>
          </p:cNvPr>
          <p:cNvSpPr txBox="1"/>
          <p:nvPr/>
        </p:nvSpPr>
        <p:spPr>
          <a:xfrm>
            <a:off x="6095999" y="1555390"/>
            <a:ext cx="1281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merican Typewriter" panose="02090604020004020304" pitchFamily="18" charset="77"/>
              </a:rPr>
              <a:t>Theoretical Grounding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B86C4F0-5946-34CC-1866-4A7651BD45BF}"/>
              </a:ext>
            </a:extLst>
          </p:cNvPr>
          <p:cNvSpPr/>
          <p:nvPr/>
        </p:nvSpPr>
        <p:spPr>
          <a:xfrm>
            <a:off x="3759868" y="2911642"/>
            <a:ext cx="1624264" cy="3068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FC5B18AC-E867-478B-8C3A-89906F3B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C9AF4B-AF11-0B1B-8569-D37B66A5EB53}"/>
              </a:ext>
            </a:extLst>
          </p:cNvPr>
          <p:cNvSpPr txBox="1"/>
          <p:nvPr/>
        </p:nvSpPr>
        <p:spPr>
          <a:xfrm>
            <a:off x="287012" y="1430391"/>
            <a:ext cx="63576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erican Typewriter" panose="02090604020004020304" pitchFamily="18" charset="77"/>
              </a:rPr>
              <a:t>PRCs are used in circadian biology, cardiac rhythms, and central pattern generators.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erican Typewriter" panose="02090604020004020304" pitchFamily="18" charset="77"/>
              </a:rPr>
              <a:t>Predict and </a:t>
            </a:r>
            <a:r>
              <a:rPr lang="en-US" dirty="0">
                <a:solidFill>
                  <a:srgbClr val="0070C0"/>
                </a:solidFill>
                <a:latin typeface="American Typewriter" panose="02090604020004020304" pitchFamily="18" charset="77"/>
              </a:rPr>
              <a:t>Control synchronization </a:t>
            </a:r>
            <a:r>
              <a:rPr lang="en-US" dirty="0">
                <a:latin typeface="American Typewriter" panose="02090604020004020304" pitchFamily="18" charset="77"/>
              </a:rPr>
              <a:t>between oscillators.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Quantitative description of </a:t>
            </a:r>
            <a:r>
              <a:rPr lang="en-US" dirty="0">
                <a:solidFill>
                  <a:srgbClr val="0070C0"/>
                </a:solidFill>
                <a:latin typeface="American Typewriter" panose="02090604020004020304" pitchFamily="18" charset="77"/>
              </a:rPr>
              <a:t>how a neuron shifts their timing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when perturbed.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Help estimate the </a:t>
            </a:r>
            <a:r>
              <a:rPr lang="en-US" dirty="0">
                <a:solidFill>
                  <a:srgbClr val="0070C0"/>
                </a:solidFill>
                <a:latin typeface="American Typewriter" panose="02090604020004020304" pitchFamily="18" charset="77"/>
              </a:rPr>
              <a:t>lock range and stability conditions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in networks of oscillators.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40C527B3-6E3D-B51C-92FA-FCA63F19D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latin typeface="American Typewriter" panose="02090604020004020304" pitchFamily="18" charset="77"/>
              </a:rPr>
              <a:t>Why Phase Response Curves (PRCs) matter ?</a:t>
            </a:r>
            <a:endParaRPr sz="2400" b="1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4118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83520E30-267C-982A-F5FF-6EBE0495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FC7832-DB50-6CC1-5169-BB07059558EB}"/>
              </a:ext>
            </a:extLst>
          </p:cNvPr>
          <p:cNvSpPr txBox="1"/>
          <p:nvPr/>
        </p:nvSpPr>
        <p:spPr>
          <a:xfrm>
            <a:off x="287012" y="1430391"/>
            <a:ext cx="63576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erican Typewriter" panose="02090604020004020304" pitchFamily="18" charset="77"/>
              </a:rPr>
              <a:t>Measure or compute PRCs for a bursting neuron model (multi-scale neuron).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erican Typewriter" panose="02090604020004020304" pitchFamily="18" charset="77"/>
              </a:rPr>
              <a:t>Simulate two-neuron coupling (using </a:t>
            </a:r>
            <a:r>
              <a:rPr lang="en-US" b="1" dirty="0">
                <a:latin typeface="American Typewriter" panose="02090604020004020304" pitchFamily="18" charset="77"/>
              </a:rPr>
              <a:t>PRC phase reduction</a:t>
            </a:r>
            <a:r>
              <a:rPr lang="en-US" dirty="0">
                <a:latin typeface="American Typewriter" panose="02090604020004020304" pitchFamily="18" charset="77"/>
              </a:rPr>
              <a:t>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Show how frequency mismatch and PRC amplitude set the lock range =&gt; </a:t>
            </a:r>
            <a:r>
              <a:rPr lang="en-US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Derive bandwidth of PLL.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962350FB-55AD-9E34-96C7-2B9C22493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latin typeface="American Typewriter" panose="02090604020004020304" pitchFamily="18" charset="77"/>
              </a:rPr>
              <a:t>Next Steps</a:t>
            </a:r>
            <a:endParaRPr sz="2400" b="1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2784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7D078624-7977-317C-6AC3-A5DCDB38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88E86C-9D1D-E540-CA3A-02474D0C5D1D}"/>
              </a:ext>
            </a:extLst>
          </p:cNvPr>
          <p:cNvSpPr txBox="1"/>
          <p:nvPr/>
        </p:nvSpPr>
        <p:spPr>
          <a:xfrm>
            <a:off x="287012" y="1430391"/>
            <a:ext cx="63576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erican Typewriter" panose="02090604020004020304" pitchFamily="18" charset="77"/>
              </a:rPr>
              <a:t>What type of PRC to use (type I or type II) 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merican Typewriter" panose="02090604020004020304" pitchFamily="18" charset="77"/>
              </a:rPr>
              <a:t>How to derive computationally PRC for the bursting neuron (</a:t>
            </a:r>
            <a:r>
              <a:rPr lang="en-US" b="1" dirty="0">
                <a:latin typeface="American Typewriter" panose="02090604020004020304" pitchFamily="18" charset="77"/>
              </a:rPr>
              <a:t>Phase Transition Curve</a:t>
            </a:r>
            <a:r>
              <a:rPr lang="en-US" dirty="0">
                <a:latin typeface="American Typewriter" panose="02090604020004020304" pitchFamily="18" charset="77"/>
              </a:rPr>
              <a:t>) 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American Typewriter" panose="02090604020004020304" pitchFamily="18" charset="77"/>
              </a:rPr>
              <a:t>How to integrate noise and variability (for circuit implementation) ?</a:t>
            </a:r>
            <a:endParaRPr lang="en-US" b="1" dirty="0">
              <a:solidFill>
                <a:srgbClr val="0070C0"/>
              </a:solidFill>
              <a:latin typeface="American Typewriter" panose="02090604020004020304" pitchFamily="18" charset="77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>
                  <a:lumMod val="10000"/>
                </a:schemeClr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505" name="Google Shape;505;p46">
            <a:extLst>
              <a:ext uri="{FF2B5EF4-FFF2-40B4-BE49-F238E27FC236}">
                <a16:creationId xmlns:a16="http://schemas.microsoft.com/office/drawing/2014/main" id="{8B98482D-C9EE-3665-9C0B-DB438CEF9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latin typeface="American Typewriter" panose="02090604020004020304" pitchFamily="18" charset="77"/>
              </a:rPr>
              <a:t>Future Challenges</a:t>
            </a:r>
            <a:endParaRPr sz="2400" b="1" dirty="0"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40738589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227</TotalTime>
  <Words>229</Words>
  <Application>Microsoft Macintosh PowerPoint</Application>
  <PresentationFormat>On-screen Show (16:9)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American Typewriter</vt:lpstr>
      <vt:lpstr>Arial</vt:lpstr>
      <vt:lpstr>Courier New</vt:lpstr>
      <vt:lpstr>Figtree Black</vt:lpstr>
      <vt:lpstr>Hanken Grotesk</vt:lpstr>
      <vt:lpstr>Symbol</vt:lpstr>
      <vt:lpstr>Elegant Black &amp; White Thesis Defense by Slidesgo</vt:lpstr>
      <vt:lpstr>SNACE Progress Meeting : 18.08.25</vt:lpstr>
      <vt:lpstr>Recap : Why use a bursting neuron in a PLL ?</vt:lpstr>
      <vt:lpstr>Current Stage </vt:lpstr>
      <vt:lpstr>Why Phase Response Curves (PRCs) matter ?</vt:lpstr>
      <vt:lpstr>Next Steps</vt:lpstr>
      <vt:lpstr>Future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10</cp:revision>
  <dcterms:created xsi:type="dcterms:W3CDTF">2025-06-09T13:01:44Z</dcterms:created>
  <dcterms:modified xsi:type="dcterms:W3CDTF">2025-09-17T19:54:56Z</dcterms:modified>
</cp:coreProperties>
</file>