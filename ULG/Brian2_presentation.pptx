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25"/>
  </p:notesMasterIdLst>
  <p:sldIdLst>
    <p:sldId id="256" r:id="rId2"/>
    <p:sldId id="259" r:id="rId3"/>
    <p:sldId id="284" r:id="rId4"/>
    <p:sldId id="313" r:id="rId5"/>
    <p:sldId id="285" r:id="rId6"/>
    <p:sldId id="314" r:id="rId7"/>
    <p:sldId id="315" r:id="rId8"/>
    <p:sldId id="283" r:id="rId9"/>
    <p:sldId id="316" r:id="rId10"/>
    <p:sldId id="317" r:id="rId11"/>
    <p:sldId id="318" r:id="rId12"/>
    <p:sldId id="319" r:id="rId13"/>
    <p:sldId id="320" r:id="rId14"/>
    <p:sldId id="321" r:id="rId15"/>
    <p:sldId id="329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30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74AB2-8CDB-9547-A1ED-CC415342663E}" v="14" dt="2025-06-12T07:40:56.759"/>
  </p1510:revLst>
</p1510:revInfo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1"/>
    <p:restoredTop sz="94684"/>
  </p:normalViewPr>
  <p:slideViewPr>
    <p:cSldViewPr snapToGrid="0">
      <p:cViewPr>
        <p:scale>
          <a:sx n="173" d="100"/>
          <a:sy n="173" d="100"/>
        </p:scale>
        <p:origin x="1424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2783A062-EFB8-A372-8485-ED05FCBB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EEC534C2-98DD-FF0C-B16A-5CBC7DA84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B39573FA-354B-2F02-64F7-7298E714D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91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19B6E0E-754E-DE18-67DE-08A84DAA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A1FCE82E-291F-DA8E-7C2D-69BD7E3E6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629AF084-1322-DE01-92AF-2590A09EA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48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FCC58C32-DA83-3464-14C1-116F36A8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2AA9903E-CC05-6B6C-6A9A-13909FC85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6CE282E7-02A3-7CB6-35D8-4CC6FE2AF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667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35846048-7704-4951-0394-0D1BFA49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32944FF3-A0C9-E3F6-9E1F-C11980618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0F679864-FA0A-3E2C-06EE-5B3CAB02F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933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EC5888DA-8A7A-1558-7C9B-FDDB0EF4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4ACCC016-16C6-04B7-F409-B92DB38AD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2657F2B2-22D0-FA75-C199-A527AB0CB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7604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061EC68B-7E45-7674-BA29-64BA88A6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3163FC43-ACC3-5226-EB62-873E81652D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FFD5331E-FA90-CF39-090A-2B84EFF24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11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E0131662-106E-E31C-FFA8-AA2E7DC7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6A93CA0A-F186-16D2-8FC9-3A496F526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0F95AA95-A565-ECD0-1EAC-90A06E90E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5636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733FC004-F186-F712-A719-B6D7A628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B96BD1AD-131E-982B-2300-36D2E8FA1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708F4853-DCB6-672B-0ECB-9CFEB180F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251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D243D048-70F5-1E11-D5BD-7408E067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51A7F45C-8A6D-163B-0277-AF80D2537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5171908C-7F3E-B261-7D6C-1852F182B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7222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D2A03DB0-2B89-4D91-056D-261A7767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CAA77FF8-6966-179A-39C7-BD8B78C141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8DA27833-221E-0D47-1792-BB037BAF4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2287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E8720B82-F780-1B89-0483-DE2D75EC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AD3B4ABE-CE44-3F48-D2D3-26D624D15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BAD4DE0B-7235-3131-76E6-3383E9D1B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282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7EE9E7B3-0DBF-3B08-D7F3-BDA6EBEB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2272648D-9EDB-7650-B7B7-1D2BE371E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83C404B1-2336-96D4-A0B7-DDF884C2E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000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AF89537C-0702-490F-35D1-62400C40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9E2AE16D-161C-9E3E-FB69-6EB063CCDF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A8ECCBA6-FD78-7DFA-A04A-226DB2421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426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198E350A-4285-9954-DACC-ED989890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41E74763-A865-2C0D-C970-6CC862422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203B3221-1901-8F08-689A-E1B79B3CE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1597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1E5A218B-4E62-1028-4433-ECBE7093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B2476ECE-6BDD-6006-BE66-6A520CB92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D265252E-D25F-3855-6A56-C385B7B15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4099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51AB571-3B2F-ECED-561C-4621615E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98EB8E33-1C36-6B37-4AA6-316C14AED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FED671B2-1929-C458-E3F1-6C1714A1C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85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7A80CF51-1737-5651-FD51-77AF0827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CB931A1D-D12F-C4C3-E6A2-57BF1696B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74FA176B-81FF-51DE-6736-095DC36B0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4928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8E180F97-76B7-1215-45C2-923BE40E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BF9D223F-0C52-5848-60C2-A109466F9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9154506F-EF5B-9F91-104D-B0E2E4A88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5311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EEC23E43-D01C-F107-F4E1-B7FCEB62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6579CE58-6F7D-B9D3-68EB-D494BB7B5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129997FF-F53F-903E-1ACB-1FC54F7A8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2866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B05416AA-E8FA-919F-AF10-1F9E0C57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60893D00-4FD1-EFEF-DAF5-AFF9CC308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14B606BC-5870-B483-C11E-629ECDB4F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858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B9FBEB42-CF75-11FD-E2B5-87B29E28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>
            <a:extLst>
              <a:ext uri="{FF2B5EF4-FFF2-40B4-BE49-F238E27FC236}">
                <a16:creationId xmlns:a16="http://schemas.microsoft.com/office/drawing/2014/main" id="{950B08F2-64C2-DC9E-9FEB-917F4CA85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>
            <a:extLst>
              <a:ext uri="{FF2B5EF4-FFF2-40B4-BE49-F238E27FC236}">
                <a16:creationId xmlns:a16="http://schemas.microsoft.com/office/drawing/2014/main" id="{3253AFC7-427B-9294-16E9-85F14D189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Frame-based readout dominates </a:t>
            </a:r>
            <a:r>
              <a:rPr lang="en-US" sz="1100" dirty="0">
                <a:latin typeface="American Typewriter" panose="02090604020004020304" pitchFamily="18" charset="77"/>
              </a:rPr>
              <a:t>→ results in high bandwidth usage and power consumption.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Centralized processing models </a:t>
            </a:r>
            <a:r>
              <a:rPr lang="en-US" sz="1100" dirty="0">
                <a:latin typeface="American Typewriter" panose="02090604020004020304" pitchFamily="18" charset="77"/>
              </a:rPr>
              <a:t>→ limit scalability and are not energy-efficient.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dirty="0">
              <a:latin typeface="American Typewriter" panose="02090604020004020304" pitchFamily="18" charset="7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493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10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4" r:id="rId3"/>
    <p:sldLayoutId id="2147483675" r:id="rId4"/>
    <p:sldLayoutId id="214748367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18886" y="1970083"/>
            <a:ext cx="5897400" cy="601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 dirty="0">
                <a:latin typeface="American Typewriter" panose="02090604020004020304" pitchFamily="18" charset="77"/>
              </a:rPr>
              <a:t>Project Orientation Meeting :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AE808-5817-E247-C0BB-FB32B4AF9513}"/>
              </a:ext>
            </a:extLst>
          </p:cNvPr>
          <p:cNvSpPr txBox="1"/>
          <p:nvPr/>
        </p:nvSpPr>
        <p:spPr>
          <a:xfrm>
            <a:off x="1224354" y="2794407"/>
            <a:ext cx="6364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merican Typewriter" panose="02090604020004020304" pitchFamily="18" charset="77"/>
              </a:rPr>
              <a:t>Design of a neuromorphic adaptive touch sensor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SENSOR PART : WHAT DIRECTION DO WE TAKE ?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A657DC13-7BBB-67DE-19B1-F4E4A108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E9A45348-C44A-C055-D72B-FE31F11E7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TACTILE SENSOR TECHNOLOGY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13382BA9-039C-C211-0059-FD159CED896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05134" cy="3806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-FR" sz="1200" b="1" dirty="0">
                <a:latin typeface="American Typewriter" panose="02090604020004020304" pitchFamily="18" charset="77"/>
              </a:rPr>
              <a:t>OPTION 1: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-FR" sz="1200" dirty="0" err="1">
                <a:latin typeface="American Typewriter" panose="02090604020004020304" pitchFamily="18" charset="77"/>
              </a:rPr>
              <a:t>Develop</a:t>
            </a:r>
            <a:r>
              <a:rPr lang="fr-FR" sz="1200" dirty="0">
                <a:latin typeface="American Typewriter" panose="02090604020004020304" pitchFamily="18" charset="77"/>
              </a:rPr>
              <a:t> a 3D capacitive </a:t>
            </a:r>
            <a:r>
              <a:rPr lang="fr-FR" sz="1200" dirty="0" err="1">
                <a:latin typeface="American Typewriter" panose="02090604020004020304" pitchFamily="18" charset="77"/>
              </a:rPr>
              <a:t>sensor</a:t>
            </a:r>
            <a:r>
              <a:rPr lang="fr-FR" sz="1200" dirty="0">
                <a:latin typeface="American Typewriter" panose="02090604020004020304" pitchFamily="18" charset="77"/>
              </a:rPr>
              <a:t> (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Preferable</a:t>
            </a:r>
            <a:r>
              <a:rPr lang="fr-FR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to 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avoid</a:t>
            </a:r>
            <a:r>
              <a:rPr lang="fr-FR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it</a:t>
            </a:r>
            <a:r>
              <a:rPr lang="fr-FR" sz="1200" dirty="0">
                <a:latin typeface="American Typewriter" panose="02090604020004020304" pitchFamily="18" charset="77"/>
              </a:rPr>
              <a:t>).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fr-FR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fr-FR" sz="1200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r>
              <a:rPr lang="fr-FR" sz="1200" b="1" dirty="0">
                <a:latin typeface="American Typewriter" panose="02090604020004020304" pitchFamily="18" charset="77"/>
              </a:rPr>
              <a:t>OPTION 2: </a:t>
            </a:r>
          </a:p>
          <a:p>
            <a:pPr marL="0" lvl="0" indent="0"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r>
              <a:rPr lang="fr-FR" sz="1200" dirty="0">
                <a:latin typeface="American Typewriter" panose="02090604020004020304" pitchFamily="18" charset="77"/>
              </a:rPr>
              <a:t>Use simple </a:t>
            </a:r>
            <a:r>
              <a:rPr lang="fr-FR" sz="1200" dirty="0" err="1">
                <a:latin typeface="American Typewriter" panose="02090604020004020304" pitchFamily="18" charset="77"/>
              </a:rPr>
              <a:t>capacitors</a:t>
            </a:r>
            <a:r>
              <a:rPr lang="fr-FR" sz="1200" dirty="0">
                <a:latin typeface="American Typewriter" panose="02090604020004020304" pitchFamily="18" charset="77"/>
              </a:rPr>
              <a:t> skin (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Easiest</a:t>
            </a:r>
            <a:r>
              <a:rPr lang="fr-FR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and 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most</a:t>
            </a:r>
            <a:r>
              <a:rPr lang="fr-FR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naive</a:t>
            </a:r>
            <a:r>
              <a:rPr lang="fr-FR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approach</a:t>
            </a:r>
            <a:r>
              <a:rPr lang="fr-FR" sz="1200" dirty="0">
                <a:latin typeface="American Typewriter" panose="02090604020004020304" pitchFamily="18" charset="77"/>
              </a:rPr>
              <a:t>)</a:t>
            </a:r>
          </a:p>
          <a:p>
            <a:pPr marL="0" lvl="0" indent="0">
              <a:buNone/>
            </a:pPr>
            <a:endParaRPr lang="fr-FR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fr-FR" sz="1200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r>
              <a:rPr lang="fr-FR" sz="1200" b="1" dirty="0">
                <a:latin typeface="American Typewriter" panose="02090604020004020304" pitchFamily="18" charset="77"/>
              </a:rPr>
              <a:t>OPTION 3: </a:t>
            </a:r>
          </a:p>
          <a:p>
            <a:pPr marL="0" lvl="0" indent="0"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endParaRPr lang="fr-FR" sz="1200" b="1" dirty="0">
              <a:latin typeface="American Typewriter" panose="02090604020004020304" pitchFamily="18" charset="77"/>
            </a:endParaRPr>
          </a:p>
          <a:p>
            <a:pPr marL="0" lvl="0" indent="0">
              <a:buNone/>
            </a:pPr>
            <a:r>
              <a:rPr lang="fr-FR" sz="1200" dirty="0">
                <a:latin typeface="American Typewriter" panose="02090604020004020304" pitchFamily="18" charset="77"/>
              </a:rPr>
              <a:t>Use 2D </a:t>
            </a:r>
            <a:r>
              <a:rPr lang="fr-FR" sz="1200" dirty="0" err="1">
                <a:latin typeface="American Typewriter" panose="02090604020004020304" pitchFamily="18" charset="77"/>
              </a:rPr>
              <a:t>planar</a:t>
            </a:r>
            <a:r>
              <a:rPr lang="fr-FR" sz="1200" dirty="0">
                <a:latin typeface="American Typewriter" panose="02090604020004020304" pitchFamily="18" charset="77"/>
              </a:rPr>
              <a:t> </a:t>
            </a:r>
            <a:r>
              <a:rPr lang="fr-FR" sz="1200" dirty="0" err="1">
                <a:latin typeface="American Typewriter" panose="02090604020004020304" pitchFamily="18" charset="77"/>
              </a:rPr>
              <a:t>sensor</a:t>
            </a:r>
            <a:r>
              <a:rPr lang="fr-FR" sz="1200" dirty="0">
                <a:latin typeface="American Typewriter" panose="02090604020004020304" pitchFamily="18" charset="77"/>
              </a:rPr>
              <a:t> + Extension to 3D (</a:t>
            </a:r>
            <a:r>
              <a:rPr lang="fr-FR" sz="1200" dirty="0" err="1">
                <a:latin typeface="American Typewriter" panose="02090604020004020304" pitchFamily="18" charset="77"/>
              </a:rPr>
              <a:t>Simeon’s</a:t>
            </a:r>
            <a:r>
              <a:rPr lang="fr-FR" sz="1200" dirty="0">
                <a:latin typeface="American Typewriter" panose="02090604020004020304" pitchFamily="18" charset="77"/>
              </a:rPr>
              <a:t> </a:t>
            </a:r>
            <a:r>
              <a:rPr lang="fr-FR" sz="1200" dirty="0" err="1">
                <a:latin typeface="American Typewriter" panose="02090604020004020304" pitchFamily="18" charset="77"/>
              </a:rPr>
              <a:t>idea</a:t>
            </a:r>
            <a:r>
              <a:rPr lang="fr-FR" sz="1200" dirty="0">
                <a:latin typeface="American Typewriter" panose="02090604020004020304" pitchFamily="18" charset="77"/>
              </a:rPr>
              <a:t>)</a:t>
            </a:r>
          </a:p>
          <a:p>
            <a:pPr marL="0" lvl="0" indent="0">
              <a:buNone/>
            </a:pPr>
            <a:endParaRPr lang="fr-FR" sz="1200" dirty="0">
              <a:latin typeface="American Typewriter" panose="02090604020004020304" pitchFamily="18" charset="77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200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142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AEEC5D0-F15F-B5C9-DB7B-153982F4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1275216D-F3CF-B94D-C9EF-1BBDAAF388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ENCODING LAYER : Possible changes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696B547B-8117-D281-EBB9-F325206E593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31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D512ADC8-DF0D-C72E-F7AC-A191D892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9A198553-EBD8-8747-FF5F-F9C99AFFE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Capacitive Network Asynchronous Readout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923CE56A-A434-8D19-BB6E-E05B224241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4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D9C27B-7A0E-EFD0-70C4-1F749C5F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787" y="864119"/>
            <a:ext cx="3994484" cy="39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5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0A5EF97F-0B3A-7CF7-B93C-2772427A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C85C45AD-1B37-27AD-02B9-905BFCEEB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ENCODED MAGNITUDE MEANING WITH ATIS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C0F362AB-0FC3-A2A0-3B6A-EBF03FB6B7B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005" y="1017725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The encoded magnitude is: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Dependent on the conditioning of the sensor.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Need for off-chip compensation.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95FB9-73C7-73A4-AF18-2CDEA91A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910" y="2030814"/>
            <a:ext cx="4781665" cy="28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3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9DDF3CE8-9112-0DCD-65A7-087753A9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C7104F24-79C9-C7BA-77FF-E370D6E23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ON-CHIP CONDITIONING COMPENSATION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28D00-1023-3B7D-1A3D-9D160833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7" y="982802"/>
            <a:ext cx="7772400" cy="371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0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EFAF677-4C13-0186-7E49-5CC2BF7B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EE6E164A-3386-C284-EE80-AAAA7CABA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PROCESSING LAYER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072115C-BEBE-3FBB-8071-2123D0872A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03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89E55B8A-11BE-4BBC-3A2A-800081C4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6485279D-FEC1-2FB2-20E7-34E23512C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PROCESSING NEURONS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AE173E63-8A59-9C48-1BCB-9176CDFE045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005" y="1017725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Dynamic receptive fields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Modular interconnections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Feedback mimicking adaptation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EFE436-133B-CAFE-0A91-9114567C3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60" y="1131112"/>
            <a:ext cx="4884409" cy="35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BC23D23E-A35A-FBE2-2D65-36757439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0F28F2EA-4053-3749-68C6-1969BCFF3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PROCESSING LAYER : NEED FOR TASK MODULARITY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647" name="Google Shape;647;p52">
            <a:extLst>
              <a:ext uri="{FF2B5EF4-FFF2-40B4-BE49-F238E27FC236}">
                <a16:creationId xmlns:a16="http://schemas.microsoft.com/office/drawing/2014/main" id="{2E6FFF93-F652-4E6A-8732-52FF8E6D1B5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005" y="1017725"/>
            <a:ext cx="7605134" cy="3840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b="1" dirty="0">
                <a:latin typeface="American Typewriter" panose="02090604020004020304" pitchFamily="18" charset="77"/>
              </a:rPr>
              <a:t>Multi-task compatibility</a:t>
            </a: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b="1" dirty="0">
                <a:latin typeface="American Typewriter" panose="02090604020004020304" pitchFamily="18" charset="77"/>
              </a:rPr>
              <a:t>Skin sensor geometry agnostic</a:t>
            </a: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b="1" dirty="0">
                <a:latin typeface="American Typewriter" panose="02090604020004020304" pitchFamily="18" charset="77"/>
              </a:rPr>
              <a:t>Dynamic and programmable interconnections</a:t>
            </a: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=&gt; </a:t>
            </a:r>
            <a:r>
              <a:rPr lang="en-US" sz="12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CROSS-BAR ARRAY CONFIGURATION</a:t>
            </a:r>
          </a:p>
        </p:txBody>
      </p:sp>
    </p:spTree>
    <p:extLst>
      <p:ext uri="{BB962C8B-B14F-4D97-AF65-F5344CB8AC3E}">
        <p14:creationId xmlns:p14="http://schemas.microsoft.com/office/powerpoint/2010/main" val="407861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02BF4806-4E6D-A87C-98C8-B6CE7DA6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E577FF84-BE7C-7B31-BEB6-6EDB6FF155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CROSS-BAR ARRAY CONFIGURATION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0A20C-BC61-7BCE-76A3-46828C606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12" y="1017725"/>
            <a:ext cx="5343652" cy="364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8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A4077E96-A6CC-B913-9F86-F03F759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DD9C40B3-C408-880A-CA6B-959C3884F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CROSS-BAR ARRAY IMPLEMENTATION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BE31F68C-1DFE-9402-F975-F89BA1652CEB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Option 1: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Implement cross-bar array on chip.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Option 2:</a:t>
            </a: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Leverage micro-controller to perform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DEMULTIPLEXING</a:t>
            </a:r>
            <a:r>
              <a:rPr lang="en-US" sz="1200" dirty="0"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896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4B183220-9D6B-3D58-F5D2-9DC79A07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6555C749-BF6D-D8A9-706F-A295E16C5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Processing Layer Implementation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EF1832D5-F14E-1332-9B03-42AA6D915C0C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Font typeface="Hanken Grotesk"/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Focus on analog computation:</a:t>
            </a:r>
          </a:p>
          <a:p>
            <a:pPr marL="0" indent="0">
              <a:buFont typeface="Hanken Grotesk"/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Font typeface="Hanken Grotesk"/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Leads to richer dynamics for task solving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Robustness to noise </a:t>
            </a:r>
          </a:p>
        </p:txBody>
      </p:sp>
    </p:spTree>
    <p:extLst>
      <p:ext uri="{BB962C8B-B14F-4D97-AF65-F5344CB8AC3E}">
        <p14:creationId xmlns:p14="http://schemas.microsoft.com/office/powerpoint/2010/main" val="159955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48D6A29D-E83A-AA03-CFCE-A63CBDC9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754FCAE7-B71B-8F33-5E4F-190E85AB0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Towards Tactile Applications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267033C8-FA43-34E8-5544-9439DB0F67C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8690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E6B48205-4554-53D5-1500-62E037C0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42C9E2D2-DE25-253E-AC63-20D8F1902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Motion Detection Task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7057E4E9-9C27-60DD-19DE-A3D82A16DA67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Exploit Dendritic Computation for </a:t>
            </a:r>
            <a:r>
              <a:rPr lang="en-US" sz="1200" b="1" dirty="0" err="1">
                <a:latin typeface="American Typewriter" panose="02090604020004020304" pitchFamily="18" charset="77"/>
              </a:rPr>
              <a:t>Spatio</a:t>
            </a:r>
            <a:r>
              <a:rPr lang="en-US" sz="1200" b="1" dirty="0">
                <a:latin typeface="American Typewriter" panose="02090604020004020304" pitchFamily="18" charset="77"/>
              </a:rPr>
              <a:t>-Temporal Filtering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3D15D-E4BA-584C-8B1D-765DB4345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83" y="1805578"/>
            <a:ext cx="6620011" cy="26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27FCAE65-3022-0662-BBA2-41488514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6B320EE4-B740-0F81-7D85-E37C3979B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Texture Recognition Task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C37BB3F9-C2B0-FF76-3651-C59660D2B7E8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Use existing technology : </a:t>
            </a:r>
            <a:r>
              <a:rPr lang="en-US" sz="1200" b="1" dirty="0">
                <a:latin typeface="American Typewriter" panose="02090604020004020304" pitchFamily="18" charset="77"/>
              </a:rPr>
              <a:t>Spiking Phase-Locked Loop Model </a:t>
            </a:r>
            <a:r>
              <a:rPr lang="en-US" sz="1200" dirty="0">
                <a:latin typeface="American Typewriter" panose="02090604020004020304" pitchFamily="18" charset="77"/>
              </a:rPr>
              <a:t>from Elisabetta Chicca.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The Current Controlled Oscillator (CCO) tries to lock </a:t>
            </a: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on the input signal frequency.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4C9EDE-A7C7-68AE-C687-1A795AC4A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9" y="2050381"/>
            <a:ext cx="3657600" cy="198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905710-7621-00EE-9495-20BD6D011E5B}"/>
              </a:ext>
            </a:extLst>
          </p:cNvPr>
          <p:cNvSpPr txBox="1"/>
          <p:nvPr/>
        </p:nvSpPr>
        <p:spPr>
          <a:xfrm>
            <a:off x="1607586" y="4164119"/>
            <a:ext cx="65774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Mastella, M., Tiemens, T., &amp; Chicca, E. (2024). Texture Recognition Using a Biologically Plausible Spiking Phase-Locked Loop Model for Spike Train Frequency Decomposition. </a:t>
            </a:r>
            <a:r>
              <a:rPr lang="en-US" dirty="0" err="1"/>
              <a:t>arXiv</a:t>
            </a:r>
            <a:r>
              <a:rPr lang="en-US" dirty="0"/>
              <a:t> preprint arXiv:2403.09723.</a:t>
            </a:r>
          </a:p>
        </p:txBody>
      </p:sp>
    </p:spTree>
    <p:extLst>
      <p:ext uri="{BB962C8B-B14F-4D97-AF65-F5344CB8AC3E}">
        <p14:creationId xmlns:p14="http://schemas.microsoft.com/office/powerpoint/2010/main" val="1591913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887D1507-E022-1AF9-C52B-8A6B3765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5F89F57E-041D-65C2-EF2C-E6CFDA5FC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Texture Recognition Task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2D2B5533-630A-7A44-5A5B-2C6ED789EAA6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Extension to bursting neurons: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Each neuron is sensitive to a specific bandwidth.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Population of neurons that are sensitive to different bandwidths.</a:t>
            </a: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Overlapping bandwidths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6634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13875635-09D2-E734-E6DE-B1928A40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B0D60E77-52BC-F56A-DB1B-B95183148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SNACE CONTRIBUTION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BC131C9C-E69D-E6E3-D0FE-62E72A77831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09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67557746-A3EF-953A-D8EE-0A956CC8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84EF61E9-D7CF-98ED-CFD8-2AE17B01D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How to integrate Active Efficient Encoding (AEC) ?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EF8C046F-1F5C-FD16-6AB3-993F72E203CA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Encoding layer already performs Efficient Encoding.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For the active encoding, need of a direct feedback connection.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=&gt;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Adaptive tuning of </a:t>
            </a:r>
            <a:r>
              <a:rPr lang="en-US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taxels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 sensitivity (via biases)</a:t>
            </a:r>
            <a:r>
              <a:rPr lang="en-US" sz="1200" dirty="0"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459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33D5D23A-CB1C-FC5E-F34E-F37E8EB0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1E2BF335-59A1-AFE3-0B39-5429DEED7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AEC Implementation : Control Loop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9089058C-5999-6C0C-F5CC-5B5FA3948805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latin typeface="American Typewriter" panose="02090604020004020304" pitchFamily="18" charset="77"/>
              </a:rPr>
              <a:t>Target of controller: </a:t>
            </a:r>
          </a:p>
          <a:p>
            <a:pPr marL="0" indent="0">
              <a:buNone/>
            </a:pPr>
            <a:endParaRPr lang="en-US" sz="1200" b="1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Based on two metrics,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Task Performance </a:t>
            </a:r>
            <a:r>
              <a:rPr lang="en-US" sz="1200" dirty="0">
                <a:latin typeface="American Typewriter" panose="02090604020004020304" pitchFamily="18" charset="77"/>
              </a:rPr>
              <a:t>and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Energy Consumption.</a:t>
            </a:r>
          </a:p>
          <a:p>
            <a:pPr marL="0" indent="0">
              <a:buNone/>
            </a:pPr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Goal of the controller: </a:t>
            </a:r>
          </a:p>
          <a:p>
            <a:pPr marL="0" indent="0">
              <a:buNone/>
            </a:pPr>
            <a:endParaRPr lang="en-US" sz="1200" b="1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Taxels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 sensitivity tuning to optimize metrics.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=&gt; Competing relationship between the metrics</a:t>
            </a: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4507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327B98FE-B581-9D29-8B8E-3665D1FE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CD832008-81B8-973F-6147-05D99241A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How to proceed ?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2D4F2CEA-8979-92B7-B534-29224FCEE0A9}"/>
              </a:ext>
            </a:extLst>
          </p:cNvPr>
          <p:cNvSpPr txBox="1">
            <a:spLocks/>
          </p:cNvSpPr>
          <p:nvPr/>
        </p:nvSpPr>
        <p:spPr>
          <a:xfrm>
            <a:off x="341005" y="1017725"/>
            <a:ext cx="7605134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latin typeface="American Typewriter" panose="02090604020004020304" pitchFamily="18" charset="77"/>
              </a:rPr>
              <a:t>Characterize the relationship between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Task Performance </a:t>
            </a:r>
            <a:r>
              <a:rPr lang="en-US" sz="1200" dirty="0">
                <a:latin typeface="American Typewriter" panose="02090604020004020304" pitchFamily="18" charset="77"/>
              </a:rPr>
              <a:t>and </a:t>
            </a:r>
            <a:r>
              <a:rPr lang="en-US" sz="1200" dirty="0">
                <a:solidFill>
                  <a:srgbClr val="0070C0"/>
                </a:solidFill>
                <a:latin typeface="American Typewriter" panose="02090604020004020304" pitchFamily="18" charset="77"/>
              </a:rPr>
              <a:t>Energy Consumption.</a:t>
            </a:r>
          </a:p>
          <a:p>
            <a:pPr marL="171450" indent="-171450"/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Error signal determination + Translation of the error into adaptation to the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taxels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.</a:t>
            </a:r>
          </a:p>
          <a:p>
            <a:pPr marL="171450" indent="-171450"/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171450" indent="-171450"/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171450" indent="-171450"/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What kind of controller to use ? </a:t>
            </a: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5428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DB77C55F-ED9C-6CFB-07F8-709DF649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C59D7B76-8B3A-26BF-2E67-063EC3176E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latin typeface="American Typewriter" panose="02090604020004020304" pitchFamily="18" charset="77"/>
              </a:rPr>
              <a:t>THESIS ORIENTATION</a:t>
            </a:r>
            <a:endParaRPr sz="3200" dirty="0">
              <a:latin typeface="American Typewriter" panose="02090604020004020304" pitchFamily="18" charset="77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837B9728-4601-C8B5-73A4-36213B1E9A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143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AF0C7A79-C2E3-6E72-9C70-657E794C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>
            <a:extLst>
              <a:ext uri="{FF2B5EF4-FFF2-40B4-BE49-F238E27FC236}">
                <a16:creationId xmlns:a16="http://schemas.microsoft.com/office/drawing/2014/main" id="{9C9BAF3E-73CA-DF43-B3DA-64FAAFAB8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latin typeface="American Typewriter" panose="02090604020004020304" pitchFamily="18" charset="77"/>
              </a:rPr>
              <a:t>Biology or Engineering Focus ?</a:t>
            </a:r>
            <a:endParaRPr sz="20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Google Shape;647;p52">
            <a:extLst>
              <a:ext uri="{FF2B5EF4-FFF2-40B4-BE49-F238E27FC236}">
                <a16:creationId xmlns:a16="http://schemas.microsoft.com/office/drawing/2014/main" id="{597EFABF-53D0-56B8-9B81-888A84D37551}"/>
              </a:ext>
            </a:extLst>
          </p:cNvPr>
          <p:cNvSpPr txBox="1">
            <a:spLocks/>
          </p:cNvSpPr>
          <p:nvPr/>
        </p:nvSpPr>
        <p:spPr>
          <a:xfrm>
            <a:off x="341004" y="1017725"/>
            <a:ext cx="8082995" cy="384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2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Possible collaboration about prosthetics with Massimiliano Iacono and Michele Canepa for </a:t>
            </a:r>
            <a:r>
              <a:rPr lang="en-US" sz="1200" dirty="0" err="1">
                <a:solidFill>
                  <a:srgbClr val="0070C0"/>
                </a:solidFill>
                <a:latin typeface="American Typewriter" panose="02090604020004020304" pitchFamily="18" charset="77"/>
              </a:rPr>
              <a:t>BioEthernet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 project.</a:t>
            </a: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Encode EMG signals to spike.</a:t>
            </a: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merican Typewriter" panose="02090604020004020304" pitchFamily="18" charset="77"/>
              </a:rPr>
              <a:t>Might use processing layer other than SNNs.</a:t>
            </a:r>
            <a:endParaRPr lang="en-US" sz="1200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US" sz="12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1200" dirty="0">
                <a:latin typeface="American Typewriter" panose="02090604020004020304" pitchFamily="18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820259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3328</TotalTime>
  <Words>807</Words>
  <Application>Microsoft Macintosh PowerPoint</Application>
  <PresentationFormat>On-screen Show (16:9)</PresentationFormat>
  <Paragraphs>225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American Typewriter</vt:lpstr>
      <vt:lpstr>Arial</vt:lpstr>
      <vt:lpstr>Figtree Black</vt:lpstr>
      <vt:lpstr>Hanken Grotesk</vt:lpstr>
      <vt:lpstr>Elegant Black &amp; White Thesis Defense by Slidesgo</vt:lpstr>
      <vt:lpstr>Project Orientation Meeting :</vt:lpstr>
      <vt:lpstr>SENSOR PART : WHAT DIRECTION DO WE TAKE ?</vt:lpstr>
      <vt:lpstr>TACTILE SENSOR TECHNOLOGY</vt:lpstr>
      <vt:lpstr>ENCODING LAYER : Possible changes</vt:lpstr>
      <vt:lpstr>Capacitive Network Asynchronous Readout</vt:lpstr>
      <vt:lpstr>ENCODED MAGNITUDE MEANING WITH ATIS</vt:lpstr>
      <vt:lpstr>ON-CHIP CONDITIONING COMPENSATION</vt:lpstr>
      <vt:lpstr>PROCESSING LAYER</vt:lpstr>
      <vt:lpstr>PROCESSING NEURONS</vt:lpstr>
      <vt:lpstr>PROCESSING LAYER : NEED FOR TASK MODULARITY</vt:lpstr>
      <vt:lpstr>CROSS-BAR ARRAY CONFIGURATION</vt:lpstr>
      <vt:lpstr>CROSS-BAR ARRAY IMPLEMENTATION</vt:lpstr>
      <vt:lpstr>Processing Layer Implementation</vt:lpstr>
      <vt:lpstr>Towards Tactile Applications</vt:lpstr>
      <vt:lpstr>Motion Detection Task</vt:lpstr>
      <vt:lpstr>Texture Recognition Task</vt:lpstr>
      <vt:lpstr>Texture Recognition Task</vt:lpstr>
      <vt:lpstr>SNACE CONTRIBUTION</vt:lpstr>
      <vt:lpstr>How to integrate Active Efficient Encoding (AEC) ?</vt:lpstr>
      <vt:lpstr>AEC Implementation : Control Loop</vt:lpstr>
      <vt:lpstr>How to proceed ?</vt:lpstr>
      <vt:lpstr>THESIS ORIENTATION</vt:lpstr>
      <vt:lpstr>Biology or Engineering Focus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11</cp:revision>
  <dcterms:created xsi:type="dcterms:W3CDTF">2025-06-09T13:01:44Z</dcterms:created>
  <dcterms:modified xsi:type="dcterms:W3CDTF">2025-07-09T19:06:03Z</dcterms:modified>
</cp:coreProperties>
</file>