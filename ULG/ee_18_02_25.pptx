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61" r:id="rId2"/>
    <p:sldId id="291" r:id="rId3"/>
    <p:sldId id="300" r:id="rId4"/>
    <p:sldId id="301" r:id="rId5"/>
    <p:sldId id="303" r:id="rId6"/>
    <p:sldId id="302" r:id="rId7"/>
    <p:sldId id="304" r:id="rId8"/>
    <p:sldId id="305" r:id="rId9"/>
    <p:sldId id="306" r:id="rId1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B922DDD-9CD3-A94A-847A-641AF4D3417C}">
          <p14:sldIdLst>
            <p14:sldId id="261"/>
            <p14:sldId id="291"/>
            <p14:sldId id="300"/>
            <p14:sldId id="301"/>
            <p14:sldId id="303"/>
            <p14:sldId id="302"/>
            <p14:sldId id="304"/>
            <p14:sldId id="305"/>
            <p14:sldId id="30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63" autoAdjust="0"/>
    <p:restoredTop sz="82579" autoAdjust="0"/>
  </p:normalViewPr>
  <p:slideViewPr>
    <p:cSldViewPr snapToGrid="0">
      <p:cViewPr>
        <p:scale>
          <a:sx n="157" d="100"/>
          <a:sy n="157" d="100"/>
        </p:scale>
        <p:origin x="52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50D84A-B9DE-4531-8B67-F886AB8E4609}" type="datetimeFigureOut">
              <a:rPr lang="it-IT" smtClean="0"/>
              <a:t>18/02/25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4E75-0CD0-4060-94EA-56A2BD6BB27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57553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024E75-0CD0-4060-94EA-56A2BD6BB27D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265823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9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502D2EB4-FDBD-BB47-B0BD-B7A1F6950530}" type="datetime1">
              <a:rPr lang="en-US" smtClean="0"/>
              <a:t>2/18/25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722239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5808" y="201216"/>
            <a:ext cx="10972800" cy="990600"/>
          </a:xfrm>
        </p:spPr>
        <p:txBody>
          <a:bodyPr/>
          <a:lstStyle>
            <a:lvl1pPr algn="r">
              <a:defRPr>
                <a:latin typeface="Candara" panose="020E0502030303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09214"/>
            <a:ext cx="10972800" cy="4876800"/>
          </a:xfrm>
        </p:spPr>
        <p:txBody>
          <a:bodyPr>
            <a:normAutofit/>
          </a:bodyPr>
          <a:lstStyle>
            <a:lvl1pPr marL="266700" indent="-266700">
              <a:buFont typeface="Wingdings" panose="05000000000000000000" pitchFamily="2" charset="2"/>
              <a:buChar char="§"/>
              <a:defRPr sz="2800">
                <a:latin typeface="Candara" panose="020E0502030303020204" pitchFamily="34" charset="0"/>
              </a:defRPr>
            </a:lvl1pPr>
            <a:lvl2pPr marL="625475" indent="-350838">
              <a:buFont typeface="Courier New" panose="02070309020205020404" pitchFamily="49" charset="0"/>
              <a:buChar char="o"/>
              <a:defRPr sz="2400">
                <a:latin typeface="Candara" panose="020E0502030303020204" pitchFamily="34" charset="0"/>
              </a:defRPr>
            </a:lvl2pPr>
            <a:lvl3pPr>
              <a:defRPr sz="2000">
                <a:latin typeface="Candara" panose="020E0502030303020204" pitchFamily="34" charset="0"/>
              </a:defRPr>
            </a:lvl3pPr>
            <a:lvl4pPr>
              <a:defRPr sz="1800">
                <a:latin typeface="Candara" panose="020E0502030303020204" pitchFamily="34" charset="0"/>
              </a:defRPr>
            </a:lvl4pPr>
            <a:lvl5pPr>
              <a:defRPr sz="1600">
                <a:latin typeface="Candara" panose="020E0502030303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510528"/>
            <a:ext cx="3860800" cy="329184"/>
          </a:xfrm>
          <a:prstGeom prst="rect">
            <a:avLst/>
          </a:prstGeom>
        </p:spPr>
        <p:txBody>
          <a:bodyPr/>
          <a:lstStyle/>
          <a:p>
            <a:fld id="{D0171BDF-87F9-044F-AA62-CC81995935DB}" type="datetime1">
              <a:rPr lang="en-US" smtClean="0"/>
              <a:t>2/18/25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609600" y="1227112"/>
            <a:ext cx="10972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6707" y="6300821"/>
            <a:ext cx="716298" cy="5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630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7000"/>
            <a:ext cx="12192000" cy="401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651052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514" y="650593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rgbClr val="FFFFFF"/>
                </a:solidFill>
              </a:defRPr>
            </a:lvl1pPr>
          </a:lstStyle>
          <a:p>
            <a:fld id="{5C25CA23-5313-47B3-AB80-0693EC779B1F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55435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2" r:id="rId2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rgbClr val="0070C0"/>
          </a:solidFill>
          <a:latin typeface="Candara" panose="020E0502030303020204" pitchFamily="34" charset="0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tangolo 17"/>
          <p:cNvSpPr/>
          <p:nvPr/>
        </p:nvSpPr>
        <p:spPr>
          <a:xfrm>
            <a:off x="-3767" y="-356468"/>
            <a:ext cx="12327755" cy="4328459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9465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1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Ovale 18"/>
          <p:cNvSpPr>
            <a:spLocks noChangeAspect="1"/>
          </p:cNvSpPr>
          <p:nvPr/>
        </p:nvSpPr>
        <p:spPr>
          <a:xfrm>
            <a:off x="229282" y="-301407"/>
            <a:ext cx="3767053" cy="3767053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11" name="Connettore 1 10"/>
          <p:cNvCxnSpPr/>
          <p:nvPr/>
        </p:nvCxnSpPr>
        <p:spPr>
          <a:xfrm flipV="1">
            <a:off x="185279" y="5496299"/>
            <a:ext cx="11987783" cy="21431"/>
          </a:xfrm>
          <a:prstGeom prst="line">
            <a:avLst/>
          </a:prstGeom>
          <a:ln w="10541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e 21"/>
          <p:cNvSpPr/>
          <p:nvPr/>
        </p:nvSpPr>
        <p:spPr>
          <a:xfrm>
            <a:off x="9220200" y="3086100"/>
            <a:ext cx="685800" cy="6858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Ovale 22"/>
          <p:cNvSpPr/>
          <p:nvPr/>
        </p:nvSpPr>
        <p:spPr>
          <a:xfrm>
            <a:off x="7027228" y="100732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Ovale 23"/>
          <p:cNvSpPr/>
          <p:nvPr/>
        </p:nvSpPr>
        <p:spPr>
          <a:xfrm>
            <a:off x="3581400" y="6553200"/>
            <a:ext cx="228600" cy="228600"/>
          </a:xfrm>
          <a:prstGeom prst="ellipse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Connettore 1 25"/>
          <p:cNvCxnSpPr/>
          <p:nvPr/>
        </p:nvCxnSpPr>
        <p:spPr>
          <a:xfrm flipH="1">
            <a:off x="3359696" y="219401"/>
            <a:ext cx="3767053" cy="91256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ttore 1 28"/>
          <p:cNvCxnSpPr/>
          <p:nvPr/>
        </p:nvCxnSpPr>
        <p:spPr>
          <a:xfrm flipH="1" flipV="1">
            <a:off x="3271380" y="1597070"/>
            <a:ext cx="6241504" cy="140370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1 31"/>
          <p:cNvCxnSpPr>
            <a:stCxn id="24" idx="0"/>
          </p:cNvCxnSpPr>
          <p:nvPr/>
        </p:nvCxnSpPr>
        <p:spPr>
          <a:xfrm flipH="1" flipV="1">
            <a:off x="2427348" y="2851502"/>
            <a:ext cx="1268352" cy="370169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ttore 1 35"/>
          <p:cNvCxnSpPr/>
          <p:nvPr/>
        </p:nvCxnSpPr>
        <p:spPr>
          <a:xfrm>
            <a:off x="4789833" y="-672570"/>
            <a:ext cx="2404922" cy="871678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ttore 1 41"/>
          <p:cNvCxnSpPr>
            <a:cxnSpLocks/>
          </p:cNvCxnSpPr>
          <p:nvPr/>
        </p:nvCxnSpPr>
        <p:spPr>
          <a:xfrm flipV="1">
            <a:off x="9424094" y="587650"/>
            <a:ext cx="2718241" cy="2358943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ttore 1 44"/>
          <p:cNvCxnSpPr>
            <a:cxnSpLocks/>
          </p:cNvCxnSpPr>
          <p:nvPr/>
        </p:nvCxnSpPr>
        <p:spPr>
          <a:xfrm>
            <a:off x="3785294" y="6667500"/>
            <a:ext cx="5638800" cy="571500"/>
          </a:xfrm>
          <a:prstGeom prst="line">
            <a:avLst/>
          </a:prstGeom>
          <a:ln w="63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3522" y="4437100"/>
            <a:ext cx="10439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rgbClr val="0070C0"/>
                </a:solidFill>
                <a:latin typeface="Candara" panose="020E0502030303020204" pitchFamily="34" charset="0"/>
              </a:rPr>
              <a:t>Progress Meeting : 18.02.2025</a:t>
            </a:r>
            <a:endParaRPr lang="en-US" sz="3800" noProof="0" dirty="0">
              <a:solidFill>
                <a:srgbClr val="0070C0"/>
              </a:solidFill>
              <a:latin typeface="Candara" panose="020E0502030303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A9A75B-053D-6E52-45F5-82415F8D7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38" y="978168"/>
            <a:ext cx="3359696" cy="886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70728-C9B8-439E-2C66-F01B1B6D6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Change detector leakage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43CE-E88C-50DF-331F-BE0E0194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2</a:t>
            </a:fld>
            <a:endParaRPr lang="it-IT"/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5F47C977-8C2B-8826-907D-D56722AC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994" y="2311524"/>
            <a:ext cx="9629663" cy="308149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C4E9EF7-DBC2-D5F2-3E91-EBFD141D2AD3}"/>
              </a:ext>
            </a:extLst>
          </p:cNvPr>
          <p:cNvCxnSpPr/>
          <p:nvPr/>
        </p:nvCxnSpPr>
        <p:spPr>
          <a:xfrm flipV="1">
            <a:off x="8075851" y="2039193"/>
            <a:ext cx="962953" cy="71209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7B4DA1F-AD4D-85D8-E4E5-BBDADA6CD88C}"/>
              </a:ext>
            </a:extLst>
          </p:cNvPr>
          <p:cNvSpPr txBox="1"/>
          <p:nvPr/>
        </p:nvSpPr>
        <p:spPr>
          <a:xfrm>
            <a:off x="7955076" y="1610546"/>
            <a:ext cx="2864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Leakage current of 50 </a:t>
            </a:r>
            <a:r>
              <a:rPr lang="en-US" dirty="0" err="1">
                <a:solidFill>
                  <a:schemeClr val="bg1"/>
                </a:solidFill>
              </a:rPr>
              <a:t>fA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4009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0F38-CE51-3BDE-4932-D6A972FDA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9A169-F716-9A30-B65F-66B71615E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Array of capacitors leakage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4A1ED-76B4-C2B8-54FE-7B7D28970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3</a:t>
            </a:fld>
            <a:endParaRPr lang="it-IT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C37A8B-2E91-8660-6FD7-5F6FE883071D}"/>
              </a:ext>
            </a:extLst>
          </p:cNvPr>
          <p:cNvSpPr txBox="1"/>
          <p:nvPr/>
        </p:nvSpPr>
        <p:spPr>
          <a:xfrm>
            <a:off x="728283" y="1820708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Leaky spiking rate of about 1 Hz</a:t>
            </a: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6335EB9C-CB26-2417-E36F-0614C780D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3375" y="1198605"/>
            <a:ext cx="6219808" cy="51831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DB9D50-D8C7-AE89-4B3B-1220DE8F7486}"/>
              </a:ext>
            </a:extLst>
          </p:cNvPr>
          <p:cNvSpPr txBox="1"/>
          <p:nvPr/>
        </p:nvSpPr>
        <p:spPr>
          <a:xfrm>
            <a:off x="760714" y="3482938"/>
            <a:ext cx="344800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diff</a:t>
            </a:r>
            <a:r>
              <a:rPr lang="en-US" dirty="0">
                <a:solidFill>
                  <a:schemeClr val="bg1"/>
                </a:solidFill>
              </a:rPr>
              <a:t> has variations of 20 mV with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r>
              <a:rPr lang="en-US" dirty="0">
                <a:solidFill>
                  <a:schemeClr val="bg1"/>
                </a:solidFill>
              </a:rPr>
              <a:t> of thresholds current: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baseline="-25000" dirty="0" err="1">
                <a:solidFill>
                  <a:schemeClr val="bg1"/>
                </a:solidFill>
              </a:rPr>
              <a:t>reset</a:t>
            </a:r>
            <a:r>
              <a:rPr lang="en-US" dirty="0">
                <a:solidFill>
                  <a:schemeClr val="bg1"/>
                </a:solidFill>
              </a:rPr>
              <a:t> = 10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baseline="-25000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= 5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US" baseline="-25000" dirty="0">
                <a:solidFill>
                  <a:schemeClr val="bg1"/>
                </a:solidFill>
              </a:rPr>
              <a:t>OFF</a:t>
            </a:r>
            <a:r>
              <a:rPr lang="en-US" dirty="0">
                <a:solidFill>
                  <a:schemeClr val="bg1"/>
                </a:solidFill>
              </a:rPr>
              <a:t> = 20 </a:t>
            </a:r>
            <a:r>
              <a:rPr lang="en-US" dirty="0" err="1">
                <a:solidFill>
                  <a:schemeClr val="bg1"/>
                </a:solidFill>
              </a:rPr>
              <a:t>nA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63894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F153D-858F-24D3-9126-A9F8D8C7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A4A1-FF3D-4065-D3B8-892F69B66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 err="1"/>
              <a:t>ChAnge</a:t>
            </a:r>
            <a:r>
              <a:rPr lang="en-US" dirty="0"/>
              <a:t> detector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D9FC1-96B3-F002-1C1D-F5282370F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4</a:t>
            </a:fld>
            <a:endParaRPr lang="it-IT"/>
          </a:p>
        </p:txBody>
      </p:sp>
      <p:pic>
        <p:nvPicPr>
          <p:cNvPr id="5" name="Picture 4" descr="A diagram of a circuit&#10;&#10;AI-generated content may be incorrect.">
            <a:extLst>
              <a:ext uri="{FF2B5EF4-FFF2-40B4-BE49-F238E27FC236}">
                <a16:creationId xmlns:a16="http://schemas.microsoft.com/office/drawing/2014/main" id="{6778DA3E-B7F5-EC55-BD1C-D879528212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390" y="2251158"/>
            <a:ext cx="9897219" cy="2879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042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0A6A1-F3D9-DE19-6711-2C06944133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96E28-D0FD-CEF1-B585-3C8721E24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Voltage to current converter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61F37-9FEC-42F6-0239-CCDCDCA0C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5</a:t>
            </a:fld>
            <a:endParaRPr lang="it-IT"/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B3FEEBF0-29E7-4102-6882-34CD1440A8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531" y="1058015"/>
            <a:ext cx="6414892" cy="534574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F2F54364-0052-6766-FA7C-E8AF99FADADE}"/>
              </a:ext>
            </a:extLst>
          </p:cNvPr>
          <p:cNvSpPr/>
          <p:nvPr/>
        </p:nvSpPr>
        <p:spPr>
          <a:xfrm>
            <a:off x="6517969" y="3730887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B3D6A6D-7626-5293-D339-74C37AAC589C}"/>
              </a:ext>
            </a:extLst>
          </p:cNvPr>
          <p:cNvCxnSpPr>
            <a:cxnSpLocks/>
          </p:cNvCxnSpPr>
          <p:nvPr/>
        </p:nvCxnSpPr>
        <p:spPr>
          <a:xfrm>
            <a:off x="6168828" y="1666958"/>
            <a:ext cx="0" cy="3979765"/>
          </a:xfrm>
          <a:prstGeom prst="line">
            <a:avLst/>
          </a:prstGeom>
          <a:ln w="26424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6F81328-1DB0-6DA2-1C67-86E2ACB82BD4}"/>
              </a:ext>
            </a:extLst>
          </p:cNvPr>
          <p:cNvCxnSpPr>
            <a:cxnSpLocks/>
          </p:cNvCxnSpPr>
          <p:nvPr/>
        </p:nvCxnSpPr>
        <p:spPr>
          <a:xfrm>
            <a:off x="6923479" y="1666958"/>
            <a:ext cx="0" cy="3979765"/>
          </a:xfrm>
          <a:prstGeom prst="line">
            <a:avLst/>
          </a:prstGeom>
          <a:ln w="26424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848CDD0-58E2-72F6-209D-119B9D1E6C53}"/>
              </a:ext>
            </a:extLst>
          </p:cNvPr>
          <p:cNvSpPr/>
          <p:nvPr/>
        </p:nvSpPr>
        <p:spPr>
          <a:xfrm>
            <a:off x="6096000" y="4853871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CC0B6F-CF13-281A-F7A6-0E6960400484}"/>
              </a:ext>
            </a:extLst>
          </p:cNvPr>
          <p:cNvSpPr/>
          <p:nvPr/>
        </p:nvSpPr>
        <p:spPr>
          <a:xfrm>
            <a:off x="6850651" y="2549481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2DD963B-0B64-1875-8E50-4ECEE93FA83D}"/>
              </a:ext>
            </a:extLst>
          </p:cNvPr>
          <p:cNvCxnSpPr>
            <a:cxnSpLocks/>
          </p:cNvCxnSpPr>
          <p:nvPr/>
        </p:nvCxnSpPr>
        <p:spPr>
          <a:xfrm flipV="1">
            <a:off x="6663625" y="3139216"/>
            <a:ext cx="1516239" cy="62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DF42B36-A099-C6F9-25B8-8187540A4D9A}"/>
              </a:ext>
            </a:extLst>
          </p:cNvPr>
          <p:cNvCxnSpPr>
            <a:cxnSpLocks/>
          </p:cNvCxnSpPr>
          <p:nvPr/>
        </p:nvCxnSpPr>
        <p:spPr>
          <a:xfrm flipV="1">
            <a:off x="6241656" y="4232511"/>
            <a:ext cx="1916767" cy="6597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F07A77-C162-FFAD-0336-9696070C5F40}"/>
              </a:ext>
            </a:extLst>
          </p:cNvPr>
          <p:cNvCxnSpPr>
            <a:cxnSpLocks/>
          </p:cNvCxnSpPr>
          <p:nvPr/>
        </p:nvCxnSpPr>
        <p:spPr>
          <a:xfrm flipV="1">
            <a:off x="6996307" y="2109648"/>
            <a:ext cx="1162116" cy="458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96DCEF3-BC0A-4CE6-4100-160ECD1C7797}"/>
              </a:ext>
            </a:extLst>
          </p:cNvPr>
          <p:cNvSpPr txBox="1"/>
          <p:nvPr/>
        </p:nvSpPr>
        <p:spPr>
          <a:xfrm>
            <a:off x="8136654" y="2866439"/>
            <a:ext cx="2332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reset</a:t>
            </a:r>
            <a:r>
              <a:rPr lang="en-US" dirty="0">
                <a:solidFill>
                  <a:schemeClr val="bg1"/>
                </a:solidFill>
              </a:rPr>
              <a:t> = 1.5 V : 400pA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A1FE8A4-C1A1-5302-9B5A-B6F4EFA8C841}"/>
              </a:ext>
            </a:extLst>
          </p:cNvPr>
          <p:cNvSpPr txBox="1"/>
          <p:nvPr/>
        </p:nvSpPr>
        <p:spPr>
          <a:xfrm>
            <a:off x="8096381" y="1740316"/>
            <a:ext cx="2436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OFF</a:t>
            </a:r>
            <a:r>
              <a:rPr lang="en-US" dirty="0">
                <a:solidFill>
                  <a:schemeClr val="bg1"/>
                </a:solidFill>
              </a:rPr>
              <a:t> = 1.65 V : 700pA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F53BFB0-5F34-5D1B-7CDB-13F1338B8DB7}"/>
              </a:ext>
            </a:extLst>
          </p:cNvPr>
          <p:cNvSpPr txBox="1"/>
          <p:nvPr/>
        </p:nvSpPr>
        <p:spPr>
          <a:xfrm>
            <a:off x="8147767" y="3930545"/>
            <a:ext cx="23583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ON</a:t>
            </a:r>
            <a:r>
              <a:rPr lang="en-US" dirty="0">
                <a:solidFill>
                  <a:schemeClr val="bg1"/>
                </a:solidFill>
              </a:rPr>
              <a:t> = 1.35 V : 150pA</a:t>
            </a:r>
          </a:p>
        </p:txBody>
      </p:sp>
    </p:spTree>
    <p:extLst>
      <p:ext uri="{BB962C8B-B14F-4D97-AF65-F5344CB8AC3E}">
        <p14:creationId xmlns:p14="http://schemas.microsoft.com/office/powerpoint/2010/main" val="213068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78F15-244F-7A95-F271-57453BED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D2187-A01C-D620-41DD-EB1D6EF5D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Change detector improvement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040-594D-177D-8CAF-0CA94A56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6</a:t>
            </a:fld>
            <a:endParaRPr lang="it-IT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86685D-195B-6AB6-2AF7-36869D6C30F5}"/>
              </a:ext>
            </a:extLst>
          </p:cNvPr>
          <p:cNvSpPr txBox="1"/>
          <p:nvPr/>
        </p:nvSpPr>
        <p:spPr>
          <a:xfrm>
            <a:off x="311421" y="1694598"/>
            <a:ext cx="34480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diff</a:t>
            </a:r>
            <a:r>
              <a:rPr lang="en-US" dirty="0">
                <a:solidFill>
                  <a:schemeClr val="bg1"/>
                </a:solidFill>
              </a:rPr>
              <a:t> has now variations of up to 250 mV with </a:t>
            </a:r>
            <a:r>
              <a:rPr lang="en-US" dirty="0" err="1">
                <a:solidFill>
                  <a:schemeClr val="bg1"/>
                </a:solidFill>
              </a:rPr>
              <a:t>pA</a:t>
            </a:r>
            <a:r>
              <a:rPr lang="en-US" dirty="0">
                <a:solidFill>
                  <a:schemeClr val="bg1"/>
                </a:solidFill>
              </a:rPr>
              <a:t> of thresholds current 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D504D5C6-0278-CE70-4C86-3ADE2A9FE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514" y="1039048"/>
            <a:ext cx="6466143" cy="538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0076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8CCBB-9A27-1210-446D-0825BC39B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9B309-EFAD-225D-CD48-554CF9516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/>
          <a:lstStyle/>
          <a:p>
            <a:r>
              <a:rPr lang="en-US" dirty="0"/>
              <a:t>Extension to Fast Adapting circuit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5113C-4549-3EB4-C3E9-F1FDF4243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7</a:t>
            </a:fld>
            <a:endParaRPr lang="it-IT"/>
          </a:p>
        </p:txBody>
      </p:sp>
      <p:pic>
        <p:nvPicPr>
          <p:cNvPr id="8" name="Picture 7" descr="A diagram of a circuit&#10;&#10;AI-generated content may be incorrect.">
            <a:extLst>
              <a:ext uri="{FF2B5EF4-FFF2-40B4-BE49-F238E27FC236}">
                <a16:creationId xmlns:a16="http://schemas.microsoft.com/office/drawing/2014/main" id="{5C0C6923-B875-3E2A-06B8-17563059B8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19" y="2315895"/>
            <a:ext cx="10407962" cy="2523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24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3DFAA-47AE-9781-E64A-4DE56933A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454D9D-9422-0232-8A2F-4E415C24D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>
            <a:normAutofit/>
          </a:bodyPr>
          <a:lstStyle/>
          <a:p>
            <a:r>
              <a:rPr lang="en-US" dirty="0"/>
              <a:t>Adaptive V-I converter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01956-282A-D6C2-76AA-884B6DE4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8</a:t>
            </a:fld>
            <a:endParaRPr lang="it-IT"/>
          </a:p>
        </p:txBody>
      </p:sp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7ACD07A3-CC7A-C29E-3862-FD5C32543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531" y="1058015"/>
            <a:ext cx="6414892" cy="5345744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AED2B0A9-BA4B-022B-EFB5-429F7DB68EF2}"/>
              </a:ext>
            </a:extLst>
          </p:cNvPr>
          <p:cNvSpPr/>
          <p:nvPr/>
        </p:nvSpPr>
        <p:spPr>
          <a:xfrm>
            <a:off x="6517969" y="3730887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9DC773C-2E53-D1A3-81B8-C27D33CB1256}"/>
              </a:ext>
            </a:extLst>
          </p:cNvPr>
          <p:cNvCxnSpPr>
            <a:cxnSpLocks/>
          </p:cNvCxnSpPr>
          <p:nvPr/>
        </p:nvCxnSpPr>
        <p:spPr>
          <a:xfrm>
            <a:off x="6721178" y="1741004"/>
            <a:ext cx="0" cy="3979765"/>
          </a:xfrm>
          <a:prstGeom prst="line">
            <a:avLst/>
          </a:prstGeom>
          <a:ln w="26424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E3E7B512-5301-F90F-706A-471CEB840810}"/>
              </a:ext>
            </a:extLst>
          </p:cNvPr>
          <p:cNvSpPr/>
          <p:nvPr/>
        </p:nvSpPr>
        <p:spPr>
          <a:xfrm>
            <a:off x="6096000" y="4853871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3A8E9A0-0D73-7312-87F5-8DB50AAC98D9}"/>
              </a:ext>
            </a:extLst>
          </p:cNvPr>
          <p:cNvSpPr/>
          <p:nvPr/>
        </p:nvSpPr>
        <p:spPr>
          <a:xfrm>
            <a:off x="6850651" y="2549481"/>
            <a:ext cx="145656" cy="121381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96B8BD8-2147-3D3F-2E9F-0269DAAC2A8E}"/>
              </a:ext>
            </a:extLst>
          </p:cNvPr>
          <p:cNvCxnSpPr>
            <a:cxnSpLocks/>
          </p:cNvCxnSpPr>
          <p:nvPr/>
        </p:nvCxnSpPr>
        <p:spPr>
          <a:xfrm flipV="1">
            <a:off x="6663625" y="3139216"/>
            <a:ext cx="1516239" cy="624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0F52688-15E2-C22F-C112-292897662B00}"/>
              </a:ext>
            </a:extLst>
          </p:cNvPr>
          <p:cNvCxnSpPr>
            <a:cxnSpLocks/>
          </p:cNvCxnSpPr>
          <p:nvPr/>
        </p:nvCxnSpPr>
        <p:spPr>
          <a:xfrm flipV="1">
            <a:off x="6241656" y="4572874"/>
            <a:ext cx="2029423" cy="319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D87D2D-52B7-EF7E-4E49-9F6B1A9AE9A6}"/>
              </a:ext>
            </a:extLst>
          </p:cNvPr>
          <p:cNvCxnSpPr>
            <a:cxnSpLocks/>
          </p:cNvCxnSpPr>
          <p:nvPr/>
        </p:nvCxnSpPr>
        <p:spPr>
          <a:xfrm flipV="1">
            <a:off x="6952378" y="1791177"/>
            <a:ext cx="1144003" cy="7770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769872A-AEA4-7CF8-2A98-B2CE463B3E8D}"/>
              </a:ext>
            </a:extLst>
          </p:cNvPr>
          <p:cNvSpPr txBox="1"/>
          <p:nvPr/>
        </p:nvSpPr>
        <p:spPr>
          <a:xfrm>
            <a:off x="8136654" y="2866439"/>
            <a:ext cx="1530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V</a:t>
            </a:r>
            <a:r>
              <a:rPr lang="en-US" baseline="-25000" dirty="0" err="1">
                <a:solidFill>
                  <a:schemeClr val="bg1"/>
                </a:solidFill>
              </a:rPr>
              <a:t>reset</a:t>
            </a:r>
            <a:r>
              <a:rPr lang="en-US" dirty="0">
                <a:solidFill>
                  <a:schemeClr val="bg1"/>
                </a:solidFill>
              </a:rPr>
              <a:t> : 400pA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505ECB-1EC7-BF98-047C-8A24724B3D2D}"/>
              </a:ext>
            </a:extLst>
          </p:cNvPr>
          <p:cNvSpPr txBox="1"/>
          <p:nvPr/>
        </p:nvSpPr>
        <p:spPr>
          <a:xfrm>
            <a:off x="8077405" y="1529336"/>
            <a:ext cx="647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OFF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4263DE-AA17-CDFA-58DD-0E89B9A8748E}"/>
              </a:ext>
            </a:extLst>
          </p:cNvPr>
          <p:cNvSpPr txBox="1"/>
          <p:nvPr/>
        </p:nvSpPr>
        <p:spPr>
          <a:xfrm>
            <a:off x="8280697" y="4362613"/>
            <a:ext cx="569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Left-Right Arrow 2">
            <a:extLst>
              <a:ext uri="{FF2B5EF4-FFF2-40B4-BE49-F238E27FC236}">
                <a16:creationId xmlns:a16="http://schemas.microsoft.com/office/drawing/2014/main" id="{77A3FA29-67EA-0B83-4610-9862F77EF3CE}"/>
              </a:ext>
            </a:extLst>
          </p:cNvPr>
          <p:cNvSpPr/>
          <p:nvPr/>
        </p:nvSpPr>
        <p:spPr>
          <a:xfrm rot="17844934">
            <a:off x="6907499" y="2658370"/>
            <a:ext cx="383965" cy="10441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Left-Right Arrow 4">
            <a:extLst>
              <a:ext uri="{FF2B5EF4-FFF2-40B4-BE49-F238E27FC236}">
                <a16:creationId xmlns:a16="http://schemas.microsoft.com/office/drawing/2014/main" id="{C70D97BF-7AD0-9922-F807-B5B1D0844EF3}"/>
              </a:ext>
            </a:extLst>
          </p:cNvPr>
          <p:cNvSpPr/>
          <p:nvPr/>
        </p:nvSpPr>
        <p:spPr>
          <a:xfrm rot="17844934">
            <a:off x="6151416" y="4996122"/>
            <a:ext cx="383965" cy="104418"/>
          </a:xfrm>
          <a:prstGeom prst="leftRightArrow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4B12DE-5C59-A7D8-D3C0-FD9246E2DF47}"/>
              </a:ext>
            </a:extLst>
          </p:cNvPr>
          <p:cNvCxnSpPr>
            <a:cxnSpLocks/>
          </p:cNvCxnSpPr>
          <p:nvPr/>
        </p:nvCxnSpPr>
        <p:spPr>
          <a:xfrm>
            <a:off x="6412332" y="1740316"/>
            <a:ext cx="0" cy="3979765"/>
          </a:xfrm>
          <a:prstGeom prst="line">
            <a:avLst/>
          </a:prstGeom>
          <a:ln w="26424">
            <a:prstDash val="sysDot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E06A4381-AA6D-FF65-5EA7-9D79FAC55ED8}"/>
              </a:ext>
            </a:extLst>
          </p:cNvPr>
          <p:cNvSpPr/>
          <p:nvPr/>
        </p:nvSpPr>
        <p:spPr>
          <a:xfrm>
            <a:off x="6331962" y="4255200"/>
            <a:ext cx="145656" cy="12138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726A8DD-BEC6-4745-BA4D-48BF2070FB6F}"/>
              </a:ext>
            </a:extLst>
          </p:cNvPr>
          <p:cNvSpPr/>
          <p:nvPr/>
        </p:nvSpPr>
        <p:spPr>
          <a:xfrm>
            <a:off x="6648350" y="3276347"/>
            <a:ext cx="145656" cy="121381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  <a:solidFill>
                <a:srgbClr val="FF0000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C4F3DEB-B598-04A3-B8D2-7B4243805241}"/>
              </a:ext>
            </a:extLst>
          </p:cNvPr>
          <p:cNvCxnSpPr>
            <a:cxnSpLocks/>
          </p:cNvCxnSpPr>
          <p:nvPr/>
        </p:nvCxnSpPr>
        <p:spPr>
          <a:xfrm flipV="1">
            <a:off x="6766259" y="2559518"/>
            <a:ext cx="1514438" cy="733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10B44D-A195-8CB5-3119-3FD79D4D1B48}"/>
              </a:ext>
            </a:extLst>
          </p:cNvPr>
          <p:cNvCxnSpPr>
            <a:cxnSpLocks/>
            <a:endCxn id="6" idx="3"/>
          </p:cNvCxnSpPr>
          <p:nvPr/>
        </p:nvCxnSpPr>
        <p:spPr>
          <a:xfrm flipV="1">
            <a:off x="6476104" y="3730887"/>
            <a:ext cx="1682319" cy="5642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075A5DE-60B0-58ED-CC8D-FDDBCC4A66A4}"/>
              </a:ext>
            </a:extLst>
          </p:cNvPr>
          <p:cNvSpPr txBox="1"/>
          <p:nvPr/>
        </p:nvSpPr>
        <p:spPr>
          <a:xfrm>
            <a:off x="8287895" y="2325447"/>
            <a:ext cx="1109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OFF-BASE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403C34-E81F-0A99-57A3-D2817C5A6CF6}"/>
              </a:ext>
            </a:extLst>
          </p:cNvPr>
          <p:cNvSpPr txBox="1"/>
          <p:nvPr/>
        </p:nvSpPr>
        <p:spPr>
          <a:xfrm>
            <a:off x="8131266" y="3498470"/>
            <a:ext cx="1031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V</a:t>
            </a:r>
            <a:r>
              <a:rPr lang="en-US" baseline="-25000" dirty="0">
                <a:solidFill>
                  <a:schemeClr val="bg1"/>
                </a:solidFill>
              </a:rPr>
              <a:t>ON-BASE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4707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4725-CAB0-904A-B2BE-B7A0AFBE3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84756-4435-9861-DC18-DEAC20BA4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457" y="0"/>
            <a:ext cx="10363200" cy="1198605"/>
          </a:xfrm>
        </p:spPr>
        <p:txBody>
          <a:bodyPr>
            <a:normAutofit/>
          </a:bodyPr>
          <a:lstStyle/>
          <a:p>
            <a:r>
              <a:rPr lang="en-US" dirty="0"/>
              <a:t>Further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C813B-0F4B-E62D-30ED-5AD3E11C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25CA23-5313-47B3-AB80-0693EC779B1F}" type="slidenum">
              <a:rPr lang="it-IT" smtClean="0"/>
              <a:pPr/>
              <a:t>9</a:t>
            </a:fld>
            <a:endParaRPr lang="it-IT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466DB06-E3E1-8D27-CA0D-86B462F52D54}"/>
              </a:ext>
            </a:extLst>
          </p:cNvPr>
          <p:cNvSpPr txBox="1"/>
          <p:nvPr/>
        </p:nvSpPr>
        <p:spPr>
          <a:xfrm>
            <a:off x="2055377" y="2362874"/>
            <a:ext cx="757354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Try developing adaptation mechanism for the change detector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Explore literature about derivative circuit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Plan a meeting with Chiara and talk with Simeon about Loris’s neuron</a:t>
            </a:r>
          </a:p>
        </p:txBody>
      </p:sp>
    </p:spTree>
    <p:extLst>
      <p:ext uri="{BB962C8B-B14F-4D97-AF65-F5344CB8AC3E}">
        <p14:creationId xmlns:p14="http://schemas.microsoft.com/office/powerpoint/2010/main" val="16689643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1_Clarity">
  <a:themeElements>
    <a:clrScheme name="Custom 8">
      <a:dk1>
        <a:srgbClr val="292934"/>
      </a:dk1>
      <a:lt1>
        <a:srgbClr val="FFFFFF"/>
      </a:lt1>
      <a:dk2>
        <a:srgbClr val="FFFFFF"/>
      </a:dk2>
      <a:lt2>
        <a:srgbClr val="F3F2DC"/>
      </a:lt2>
      <a:accent1>
        <a:srgbClr val="0072AF"/>
      </a:accent1>
      <a:accent2>
        <a:srgbClr val="FFFFFF"/>
      </a:accent2>
      <a:accent3>
        <a:srgbClr val="726056"/>
      </a:accent3>
      <a:accent4>
        <a:srgbClr val="4D4F53"/>
      </a:accent4>
      <a:accent5>
        <a:srgbClr val="808DA0"/>
      </a:accent5>
      <a:accent6>
        <a:srgbClr val="FFFFFF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3586</TotalTime>
  <Words>140</Words>
  <Application>Microsoft Macintosh PowerPoint</Application>
  <PresentationFormat>Widescreen</PresentationFormat>
  <Paragraphs>39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Candara</vt:lpstr>
      <vt:lpstr>Courier New</vt:lpstr>
      <vt:lpstr>Wingdings</vt:lpstr>
      <vt:lpstr>1_Clarity</vt:lpstr>
      <vt:lpstr>PowerPoint Presentation</vt:lpstr>
      <vt:lpstr>Change detector leakage</vt:lpstr>
      <vt:lpstr>Array of capacitors leakage</vt:lpstr>
      <vt:lpstr>ChAnge detector improvement</vt:lpstr>
      <vt:lpstr>Voltage to current converter</vt:lpstr>
      <vt:lpstr>Change detector improvement</vt:lpstr>
      <vt:lpstr>Extension to Fast Adapting circuit</vt:lpstr>
      <vt:lpstr>Adaptive V-I converter</vt:lpstr>
      <vt:lpstr>Further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Matteo Cappellini</dc:creator>
  <cp:lastModifiedBy>Halbach Quentin</cp:lastModifiedBy>
  <cp:revision>16</cp:revision>
  <dcterms:created xsi:type="dcterms:W3CDTF">2024-10-03T09:50:08Z</dcterms:created>
  <dcterms:modified xsi:type="dcterms:W3CDTF">2025-02-18T10:40:10Z</dcterms:modified>
</cp:coreProperties>
</file>