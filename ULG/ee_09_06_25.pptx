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12"/>
  </p:notesMasterIdLst>
  <p:sldIdLst>
    <p:sldId id="256" r:id="rId2"/>
    <p:sldId id="259" r:id="rId3"/>
    <p:sldId id="269" r:id="rId4"/>
    <p:sldId id="270" r:id="rId5"/>
    <p:sldId id="272" r:id="rId6"/>
    <p:sldId id="273" r:id="rId7"/>
    <p:sldId id="274" r:id="rId8"/>
    <p:sldId id="276" r:id="rId9"/>
    <p:sldId id="275" r:id="rId10"/>
    <p:sldId id="271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246F09-B46D-4B76-A7F2-69F4525598FB}">
  <a:tblStyle styleId="{38246F09-B46D-4B76-A7F2-69F4525598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13"/>
    <p:restoredTop sz="94660"/>
  </p:normalViewPr>
  <p:slideViewPr>
    <p:cSldViewPr snapToGrid="0">
      <p:cViewPr varScale="1">
        <p:scale>
          <a:sx n="194" d="100"/>
          <a:sy n="194" d="100"/>
        </p:scale>
        <p:origin x="208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E2E3D879-355B-1142-5DDD-F138B9E8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556C0CFF-D14A-3E7E-2ECD-B898494A4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A9E306BA-E4D9-1677-936D-59BCE9CFA2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662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B070B9CB-31E9-4470-2262-008936273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E412D71D-887D-D10F-4E92-4E3660CBC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4A20D52E-4D58-EC45-29F7-D2222150E9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5619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B3F989E2-E719-9C4A-CF67-38C38FA4D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50E08563-37AD-B247-90E1-B9A0438054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216D9C32-B10E-E870-61CD-25574E383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8515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08754684-2765-C007-82CC-33FB9D2FA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762BE915-C72D-8060-F3D6-259A70F405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ED30D357-981B-CFAA-6664-0F67DA1B28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91125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9D898028-C4F5-ECD9-07CC-E1094E1D8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03EC063F-3201-0A61-0A9A-8A6A3C9CBE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F4B35099-54BC-06C0-38BF-9AB67794AF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6813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4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9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E93421-C8C8-4AA7-432B-BE7FAF6B49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86304"/>
            <a:ext cx="2173606" cy="57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B2F143-8CAF-2B68-1FC1-E2E468CA97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2169800" y="4621440"/>
            <a:ext cx="730711" cy="5032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dirty="0"/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216476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F809CD-BA76-95E5-9FF3-401021DC12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86304"/>
            <a:ext cx="2173606" cy="573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91F8CD-9094-2379-35FF-50042298C8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2169800" y="4621440"/>
            <a:ext cx="730711" cy="5032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1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0" lvl="0" indent="-279388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360" lvl="1" indent="-304787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540" lvl="2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720" lvl="3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5900" lvl="4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080" lvl="5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260" lvl="6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440" lvl="7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620" lvl="8" indent="-30478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9" name="Google Shape;159;p19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ubTitle" idx="1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19"/>
          <p:cNvSpPr txBox="1">
            <a:spLocks noGrp="1"/>
          </p:cNvSpPr>
          <p:nvPr>
            <p:ph type="subTitle" idx="2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subTitle" idx="3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subTitle" idx="4"/>
          </p:nvPr>
        </p:nvSpPr>
        <p:spPr>
          <a:xfrm>
            <a:off x="977804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5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6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8141976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subTitle" idx="1"/>
          </p:nvPr>
        </p:nvSpPr>
        <p:spPr>
          <a:xfrm>
            <a:off x="874135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subTitle" idx="2"/>
          </p:nvPr>
        </p:nvSpPr>
        <p:spPr>
          <a:xfrm>
            <a:off x="3319801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0" name="Google Shape;220;p23"/>
          <p:cNvSpPr txBox="1">
            <a:spLocks noGrp="1"/>
          </p:cNvSpPr>
          <p:nvPr>
            <p:ph type="subTitle" idx="3"/>
          </p:nvPr>
        </p:nvSpPr>
        <p:spPr>
          <a:xfrm>
            <a:off x="874135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23"/>
          <p:cNvSpPr txBox="1">
            <a:spLocks noGrp="1"/>
          </p:cNvSpPr>
          <p:nvPr>
            <p:ph type="subTitle" idx="4"/>
          </p:nvPr>
        </p:nvSpPr>
        <p:spPr>
          <a:xfrm>
            <a:off x="3319801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subTitle" idx="5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3" name="Google Shape;223;p23"/>
          <p:cNvSpPr txBox="1">
            <a:spLocks noGrp="1"/>
          </p:cNvSpPr>
          <p:nvPr>
            <p:ph type="subTitle" idx="6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4" name="Google Shape;224;p23"/>
          <p:cNvSpPr txBox="1">
            <a:spLocks noGrp="1"/>
          </p:cNvSpPr>
          <p:nvPr>
            <p:ph type="subTitle" idx="7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5" name="Google Shape;225;p23"/>
          <p:cNvSpPr txBox="1">
            <a:spLocks noGrp="1"/>
          </p:cNvSpPr>
          <p:nvPr>
            <p:ph type="subTitle" idx="8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6" name="Google Shape;226;p23"/>
          <p:cNvSpPr txBox="1">
            <a:spLocks noGrp="1"/>
          </p:cNvSpPr>
          <p:nvPr>
            <p:ph type="subTitle" idx="9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23"/>
          <p:cNvSpPr txBox="1">
            <a:spLocks noGrp="1"/>
          </p:cNvSpPr>
          <p:nvPr>
            <p:ph type="subTitle" idx="13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8" name="Google Shape;228;p23"/>
          <p:cNvSpPr txBox="1">
            <a:spLocks noGrp="1"/>
          </p:cNvSpPr>
          <p:nvPr>
            <p:ph type="subTitle" idx="14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9" name="Google Shape;229;p23"/>
          <p:cNvSpPr txBox="1">
            <a:spLocks noGrp="1"/>
          </p:cNvSpPr>
          <p:nvPr>
            <p:ph type="subTitle" idx="15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6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70"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70"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6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1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65" r:id="rId4"/>
    <p:sldLayoutId id="2147483669" r:id="rId5"/>
    <p:sldLayoutId id="2147483674" r:id="rId6"/>
    <p:sldLayoutId id="214748367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/>
              <a:t>Progress Meeting : 09.06.25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1216476" y="1977150"/>
            <a:ext cx="5067600" cy="16327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/>
              <a:t>Current Literature Review</a:t>
            </a:r>
            <a:endParaRPr dirty="0"/>
          </a:p>
        </p:txBody>
      </p:sp>
      <p:sp>
        <p:nvSpPr>
          <p:cNvPr id="331" name="Google Shape;331;p36"/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/>
              <a:t>Principles of Neural Science, 6e | McGraw Hill Medical</a:t>
            </a:r>
            <a:endParaRPr sz="2000" dirty="0"/>
          </a:p>
        </p:txBody>
      </p:sp>
      <p:sp>
        <p:nvSpPr>
          <p:cNvPr id="506" name="Google Shape;506;p46"/>
          <p:cNvSpPr txBox="1">
            <a:spLocks noGrp="1"/>
          </p:cNvSpPr>
          <p:nvPr>
            <p:ph type="subTitle" idx="1"/>
          </p:nvPr>
        </p:nvSpPr>
        <p:spPr>
          <a:xfrm>
            <a:off x="977798" y="2540541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Dive into Dorsal Root Ganglion (DRG) neuron as well as peripheral nerve fibers</a:t>
            </a:r>
            <a:endParaRPr dirty="0"/>
          </a:p>
        </p:txBody>
      </p:sp>
      <p:sp>
        <p:nvSpPr>
          <p:cNvPr id="507" name="Google Shape;507;p46"/>
          <p:cNvSpPr txBox="1">
            <a:spLocks noGrp="1"/>
          </p:cNvSpPr>
          <p:nvPr>
            <p:ph type="subTitle" idx="2"/>
          </p:nvPr>
        </p:nvSpPr>
        <p:spPr>
          <a:xfrm>
            <a:off x="3450748" y="2764229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Type of mechanoreceptors and </a:t>
            </a:r>
            <a:r>
              <a:rPr lang="en" dirty="0" err="1"/>
              <a:t>deta</a:t>
            </a:r>
            <a:r>
              <a:rPr lang="en-US" dirty="0"/>
              <a:t>il</a:t>
            </a:r>
            <a:r>
              <a:rPr lang="en" dirty="0"/>
              <a:t>ed fu</a:t>
            </a:r>
            <a:r>
              <a:rPr lang="en-US" dirty="0" err="1"/>
              <a:t>nc</a:t>
            </a:r>
            <a:r>
              <a:rPr lang="en" dirty="0" err="1"/>
              <a:t>tioning</a:t>
            </a:r>
            <a:r>
              <a:rPr lang="en" dirty="0"/>
              <a:t> of their role</a:t>
            </a:r>
            <a:endParaRPr dirty="0"/>
          </a:p>
        </p:txBody>
      </p:sp>
      <p:sp>
        <p:nvSpPr>
          <p:cNvPr id="508" name="Google Shape;508;p46"/>
          <p:cNvSpPr txBox="1">
            <a:spLocks noGrp="1"/>
          </p:cNvSpPr>
          <p:nvPr>
            <p:ph type="subTitle" idx="3"/>
          </p:nvPr>
        </p:nvSpPr>
        <p:spPr>
          <a:xfrm>
            <a:off x="5923695" y="2764229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Transmission of sensory information from peripheral end (skin) to t</a:t>
            </a:r>
            <a:r>
              <a:rPr lang="en-US" dirty="0"/>
              <a:t>he</a:t>
            </a:r>
            <a:r>
              <a:rPr lang="en" dirty="0"/>
              <a:t> CNS</a:t>
            </a:r>
            <a:endParaRPr dirty="0"/>
          </a:p>
        </p:txBody>
      </p:sp>
      <p:sp>
        <p:nvSpPr>
          <p:cNvPr id="509" name="Google Shape;509;p46"/>
          <p:cNvSpPr txBox="1">
            <a:spLocks noGrp="1"/>
          </p:cNvSpPr>
          <p:nvPr>
            <p:ph type="subTitle" idx="4"/>
          </p:nvPr>
        </p:nvSpPr>
        <p:spPr>
          <a:xfrm>
            <a:off x="977801" y="1780012"/>
            <a:ext cx="2242500" cy="7306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/>
              <a:t>Somatosensory system</a:t>
            </a:r>
            <a:endParaRPr dirty="0"/>
          </a:p>
        </p:txBody>
      </p:sp>
      <p:sp>
        <p:nvSpPr>
          <p:cNvPr id="510" name="Google Shape;510;p46"/>
          <p:cNvSpPr txBox="1">
            <a:spLocks noGrp="1"/>
          </p:cNvSpPr>
          <p:nvPr>
            <p:ph type="subTitle" idx="5"/>
          </p:nvPr>
        </p:nvSpPr>
        <p:spPr>
          <a:xfrm>
            <a:off x="3450748" y="1775938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dirty="0"/>
              <a:t>Mechanoreceptors</a:t>
            </a:r>
            <a:endParaRPr dirty="0"/>
          </a:p>
        </p:txBody>
      </p:sp>
      <p:sp>
        <p:nvSpPr>
          <p:cNvPr id="511" name="Google Shape;511;p46"/>
          <p:cNvSpPr txBox="1">
            <a:spLocks noGrp="1"/>
          </p:cNvSpPr>
          <p:nvPr>
            <p:ph type="subTitle" idx="6"/>
          </p:nvPr>
        </p:nvSpPr>
        <p:spPr>
          <a:xfrm>
            <a:off x="5923695" y="1775938"/>
            <a:ext cx="2242500" cy="10515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fr-FR" dirty="0"/>
              <a:t>Connection to the Central </a:t>
            </a:r>
            <a:r>
              <a:rPr lang="fr-FR" dirty="0" err="1"/>
              <a:t>Nervous</a:t>
            </a:r>
            <a:r>
              <a:rPr lang="fr-FR" dirty="0"/>
              <a:t> System</a:t>
            </a:r>
            <a:endParaRPr dirty="0"/>
          </a:p>
        </p:txBody>
      </p:sp>
      <p:cxnSp>
        <p:nvCxnSpPr>
          <p:cNvPr id="536" name="Google Shape;536;p46"/>
          <p:cNvCxnSpPr>
            <a:cxnSpLocks/>
          </p:cNvCxnSpPr>
          <p:nvPr/>
        </p:nvCxnSpPr>
        <p:spPr>
          <a:xfrm>
            <a:off x="7044950" y="3760967"/>
            <a:ext cx="0" cy="144245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46"/>
          <p:cNvCxnSpPr>
            <a:cxnSpLocks/>
          </p:cNvCxnSpPr>
          <p:nvPr/>
        </p:nvCxnSpPr>
        <p:spPr>
          <a:xfrm>
            <a:off x="4571998" y="3760967"/>
            <a:ext cx="0" cy="144245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8" name="Google Shape;538;p46"/>
          <p:cNvCxnSpPr>
            <a:cxnSpLocks/>
          </p:cNvCxnSpPr>
          <p:nvPr/>
        </p:nvCxnSpPr>
        <p:spPr>
          <a:xfrm>
            <a:off x="2099048" y="3760967"/>
            <a:ext cx="0" cy="143345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Usefulness of Thermoreceptors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1DDC7-D72C-5209-72CB-FA40CF5005B8}"/>
              </a:ext>
            </a:extLst>
          </p:cNvPr>
          <p:cNvSpPr txBox="1"/>
          <p:nvPr/>
        </p:nvSpPr>
        <p:spPr>
          <a:xfrm>
            <a:off x="445273" y="1742000"/>
            <a:ext cx="84469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Individual TRP receptors are distinguished by their sensitivity to heat or cold, showing sharp increases in conductance to cations when their thermal threshold is exceeded.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Cold receptors are approximately 100 times more sensitive to sudden drops in skin temperature than to gradual changes (extreme sensitivity).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Unlike cold receptors, warm receptors act like thermometers as their firing rates rise monotonically with increasing skin temperature up to the threshold of pain and saturate at higher temperature.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08ADD1DA-F96F-653D-55ED-17562E34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38FB0357-6EDD-D00A-8F27-052E28028E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Thermoreceptors Implementation in Hardware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286EC5-F7C8-9D63-4CBF-AC0433D2259C}"/>
              </a:ext>
            </a:extLst>
          </p:cNvPr>
          <p:cNvSpPr txBox="1"/>
          <p:nvPr/>
        </p:nvSpPr>
        <p:spPr>
          <a:xfrm>
            <a:off x="445273" y="1742000"/>
            <a:ext cx="84469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interesting technology is the self-heating thermistor. Negative Temp. Coefficient (NTC) Thermistor have a resistance that decreases as they heat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self-heating caused by passing current depends on how efficiently the thermistor dissipates heat to its surroundings.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Circuits using these can act as </a:t>
            </a:r>
            <a:r>
              <a:rPr lang="en-US" b="1" dirty="0"/>
              <a:t>resistors whose effective R changes</a:t>
            </a:r>
            <a:r>
              <a:rPr lang="en-US" dirty="0"/>
              <a:t> depending on the local thermal conductivity.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28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E56E13A0-3ABD-07D1-FBD1-3BD54965F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A3C834D0-C9A1-DA90-C722-36F01F31D5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Thermoreceptors Implementation in Hardware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5B997A-DA86-F290-6F87-8E70D3BDE230}"/>
              </a:ext>
            </a:extLst>
          </p:cNvPr>
          <p:cNvSpPr txBox="1"/>
          <p:nvPr/>
        </p:nvSpPr>
        <p:spPr>
          <a:xfrm>
            <a:off x="445273" y="1742000"/>
            <a:ext cx="84469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 if two materials are at the same temperature, a thermistor in contact with each will behave differently due to how efficiently each material conducts heat away from the thermistor.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 </a:t>
            </a:r>
            <a:r>
              <a:rPr lang="en-US" b="1" dirty="0"/>
              <a:t>current</a:t>
            </a:r>
            <a:r>
              <a:rPr lang="en-US" dirty="0"/>
              <a:t> is passed through a thermistor, it </a:t>
            </a:r>
            <a:r>
              <a:rPr lang="en-US" b="1" dirty="0"/>
              <a:t>self-heats</a:t>
            </a:r>
            <a:r>
              <a:rPr lang="en-US" dirty="0"/>
              <a:t> due to power dissipation P=I</a:t>
            </a:r>
            <a:r>
              <a:rPr lang="en-US" baseline="30000" dirty="0"/>
              <a:t>2</a:t>
            </a:r>
            <a:r>
              <a:rPr lang="en-US" dirty="0"/>
              <a:t>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rate at which it can cools down depends on the thermal conductivity of the contacting material.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 though both materials are at the same temperature, the steady-state temperature of the thermistor (and thus its resistance) will differ due to how well heat flows into each material.</a:t>
            </a:r>
          </a:p>
        </p:txBody>
      </p:sp>
    </p:spTree>
    <p:extLst>
      <p:ext uri="{BB962C8B-B14F-4D97-AF65-F5344CB8AC3E}">
        <p14:creationId xmlns:p14="http://schemas.microsoft.com/office/powerpoint/2010/main" val="2860896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4FB76529-9CD0-2ECA-D04D-29FE28D2F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BAD7DAA2-E2A2-3F33-D637-FE4AD94A62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Thermoreceptors Implementation in Hardware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E3DF60-9073-98A4-B4D8-55B80586B7CB}"/>
              </a:ext>
            </a:extLst>
          </p:cNvPr>
          <p:cNvSpPr txBox="1"/>
          <p:nvPr/>
        </p:nvSpPr>
        <p:spPr>
          <a:xfrm>
            <a:off x="445273" y="1742000"/>
            <a:ext cx="84469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NTC Thermistor could be used as a sensor whose generated current would be fed into a DPI Neuron that would convert the sensed relative temperature of the material in contact and encode it into a periodic spike train.</a:t>
            </a:r>
          </a:p>
          <a:p>
            <a:endParaRPr lang="en-US" dirty="0"/>
          </a:p>
          <a:p>
            <a:r>
              <a:rPr lang="en-US" dirty="0"/>
              <a:t>The spiking frequency would directly be proportional to the temperature.</a:t>
            </a:r>
          </a:p>
          <a:p>
            <a:endParaRPr lang="en-US" dirty="0"/>
          </a:p>
          <a:p>
            <a:r>
              <a:rPr lang="en-US" dirty="0"/>
              <a:t>Using a temperature sensor, one could also encode the absolute temperature (insensitive to heat conduction) into a train of spike to collect both information. (Not though of yet)</a:t>
            </a:r>
          </a:p>
        </p:txBody>
      </p:sp>
    </p:spTree>
    <p:extLst>
      <p:ext uri="{BB962C8B-B14F-4D97-AF65-F5344CB8AC3E}">
        <p14:creationId xmlns:p14="http://schemas.microsoft.com/office/powerpoint/2010/main" val="244951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EDAF9DA5-BF29-A562-00D8-F2013CCD9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8DDFF1C7-4049-DEB6-1D01-69460D95AE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PTAT Sensor in Hardware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8BC308-3466-5D0A-EBB5-C08066A4CE9B}"/>
              </a:ext>
            </a:extLst>
          </p:cNvPr>
          <p:cNvSpPr txBox="1"/>
          <p:nvPr/>
        </p:nvSpPr>
        <p:spPr>
          <a:xfrm>
            <a:off x="445273" y="1742000"/>
            <a:ext cx="21597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of a PTAT (proportional-to-absolute-temperature) circuit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19E307-5CC0-0569-905C-6CA944D10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180" y="1321406"/>
            <a:ext cx="4235291" cy="22522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7D5FE0-5312-866F-AFA8-D3251A4261EA}"/>
              </a:ext>
            </a:extLst>
          </p:cNvPr>
          <p:cNvSpPr txBox="1"/>
          <p:nvPr/>
        </p:nvSpPr>
        <p:spPr>
          <a:xfrm>
            <a:off x="3889301" y="3943482"/>
            <a:ext cx="50028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Zhu, Z. &amp; Yang, Y. A 0.8 V low-power CMOS PTAT voltage reference. in Proceedings of 2005 IEEE International Workshop on VLSI Design and Video Technology, 2005. 1–5 (2005). doi:10.1109/IWVDVT.2005.1504449.</a:t>
            </a:r>
          </a:p>
        </p:txBody>
      </p:sp>
    </p:spTree>
    <p:extLst>
      <p:ext uri="{BB962C8B-B14F-4D97-AF65-F5344CB8AC3E}">
        <p14:creationId xmlns:p14="http://schemas.microsoft.com/office/powerpoint/2010/main" val="294539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85C3AD9B-4D66-EA3C-13C3-B44CF4F0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1205A8F2-67E8-94DE-E3D9-EB01AEDDC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Idea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8FC4D0-AD34-A76F-F282-5F3C56A12D9D}"/>
              </a:ext>
            </a:extLst>
          </p:cNvPr>
          <p:cNvSpPr txBox="1"/>
          <p:nvPr/>
        </p:nvSpPr>
        <p:spPr>
          <a:xfrm>
            <a:off x="445273" y="1742000"/>
            <a:ext cx="84469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of a neuromorphic PLL to infer the input signal frequency and tune adaptively the circuit biases to have a better encoding of the input signal based on its properties</a:t>
            </a:r>
          </a:p>
          <a:p>
            <a:endParaRPr lang="en-US" dirty="0"/>
          </a:p>
          <a:p>
            <a:r>
              <a:rPr lang="en-US" dirty="0"/>
              <a:t>Also, could use the output of the SA or ATIS circuits to change adaptively the gain of the signal amplification</a:t>
            </a:r>
          </a:p>
        </p:txBody>
      </p:sp>
    </p:spTree>
    <p:extLst>
      <p:ext uri="{BB962C8B-B14F-4D97-AF65-F5344CB8AC3E}">
        <p14:creationId xmlns:p14="http://schemas.microsoft.com/office/powerpoint/2010/main" val="1084338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/>
          <p:cNvSpPr txBox="1">
            <a:spLocks noGrp="1"/>
          </p:cNvSpPr>
          <p:nvPr>
            <p:ph type="title"/>
          </p:nvPr>
        </p:nvSpPr>
        <p:spPr>
          <a:xfrm>
            <a:off x="720000" y="4450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Literature review (Next-to-Be-Read)</a:t>
            </a:r>
            <a:endParaRPr dirty="0"/>
          </a:p>
        </p:txBody>
      </p:sp>
      <p:sp>
        <p:nvSpPr>
          <p:cNvPr id="596" name="Google Shape;596;p48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17486">
              <a:buSzPts val="1400"/>
            </a:pPr>
            <a:r>
              <a:rPr lang="en-US" dirty="0"/>
              <a:t>Liu, S.-C. Analog VLSI: Circuits and Principles. (MIT Press, 2002).</a:t>
            </a:r>
          </a:p>
          <a:p>
            <a:pPr lvl="1" indent="-317486">
              <a:buSzPts val="1400"/>
              <a:buFont typeface="Hanken Grotesk Light"/>
              <a:buChar char="○"/>
            </a:pPr>
            <a:r>
              <a:rPr lang="fr-FR" dirty="0"/>
              <a:t>Basic </a:t>
            </a:r>
            <a:r>
              <a:rPr lang="fr-FR" dirty="0" err="1"/>
              <a:t>principles</a:t>
            </a:r>
            <a:r>
              <a:rPr lang="fr-FR" dirty="0"/>
              <a:t> of VLSI circuits</a:t>
            </a:r>
            <a:endParaRPr dirty="0"/>
          </a:p>
          <a:p>
            <a:pPr indent="-317486">
              <a:spcBef>
                <a:spcPts val="1000"/>
              </a:spcBef>
              <a:buSzPts val="1400"/>
            </a:pPr>
            <a:r>
              <a:rPr lang="en-US" dirty="0"/>
              <a:t>Razavi, B. Design of Analog CMOS Integrated Circuits. (McGraw-Hill Higher Education, 2016).</a:t>
            </a:r>
          </a:p>
          <a:p>
            <a:pPr lvl="1" indent="-317486">
              <a:buSzPts val="1400"/>
              <a:buFont typeface="Hanken Grotesk Light"/>
              <a:buChar char="○"/>
            </a:pPr>
            <a:r>
              <a:rPr lang="fr-FR" dirty="0"/>
              <a:t>Basic </a:t>
            </a:r>
            <a:r>
              <a:rPr lang="fr-FR" dirty="0" err="1"/>
              <a:t>principles</a:t>
            </a:r>
            <a:r>
              <a:rPr lang="fr-FR" dirty="0"/>
              <a:t> of </a:t>
            </a:r>
            <a:r>
              <a:rPr lang="fr-FR" dirty="0" err="1"/>
              <a:t>Analog</a:t>
            </a:r>
            <a:r>
              <a:rPr lang="fr-FR" dirty="0"/>
              <a:t> CMOS</a:t>
            </a:r>
          </a:p>
          <a:p>
            <a:pPr indent="-317486">
              <a:spcBef>
                <a:spcPts val="1000"/>
              </a:spcBef>
              <a:buSzPts val="1400"/>
            </a:pPr>
            <a:r>
              <a:rPr lang="en-US" dirty="0"/>
              <a:t>Ribar, L. &amp; </a:t>
            </a:r>
            <a:r>
              <a:rPr lang="en-US" dirty="0" err="1"/>
              <a:t>Sepulchre</a:t>
            </a:r>
            <a:r>
              <a:rPr lang="en-US" dirty="0"/>
              <a:t>, R. Neuromorphic Control: Designing Multiscale Mixed-Feedback Systems. IEEE Control Systems Magazine 41, 34–63 (2021).</a:t>
            </a:r>
          </a:p>
          <a:p>
            <a:pPr lvl="1" indent="-317486">
              <a:buSzPts val="1400"/>
              <a:buFont typeface="Hanken Grotesk Light"/>
              <a:buChar char="○"/>
            </a:pPr>
            <a:r>
              <a:rPr lang="fr-FR" dirty="0"/>
              <a:t>Introduction to </a:t>
            </a:r>
            <a:r>
              <a:rPr lang="fr-FR" dirty="0" err="1"/>
              <a:t>Neuromorphic</a:t>
            </a:r>
            <a:r>
              <a:rPr lang="fr-FR" dirty="0"/>
              <a:t> Control for Mixed-Feedback </a:t>
            </a:r>
            <a:r>
              <a:rPr lang="fr-FR" dirty="0" err="1"/>
              <a:t>Systems</a:t>
            </a:r>
            <a:endParaRPr dirty="0"/>
          </a:p>
          <a:p>
            <a:pPr indent="-317486">
              <a:spcBef>
                <a:spcPts val="1000"/>
              </a:spcBef>
              <a:buSzPts val="1400"/>
            </a:pPr>
            <a:r>
              <a:rPr lang="fr-FR" dirty="0"/>
              <a:t>Read more about neuronal </a:t>
            </a:r>
            <a:r>
              <a:rPr lang="fr-FR" dirty="0" err="1"/>
              <a:t>biology</a:t>
            </a:r>
            <a:r>
              <a:rPr lang="fr-FR" dirty="0"/>
              <a:t> in </a:t>
            </a:r>
            <a:r>
              <a:rPr lang="en-US"/>
              <a:t>Principles of Neural Science, 6e | McGraw Hill Medical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_phd" id="{7DA0C298-FB22-B342-8752-D9945C0E3886}" vid="{AB00EB4F-3D04-6340-A048-9C0D868CF61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Elegant Black &amp; White Thesis Defense by Slidesgo</Template>
  <TotalTime>59</TotalTime>
  <Words>626</Words>
  <Application>Microsoft Macintosh PowerPoint</Application>
  <PresentationFormat>On-screen Show (16:9)</PresentationFormat>
  <Paragraphs>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Figtree Black</vt:lpstr>
      <vt:lpstr>Hanken Grotesk</vt:lpstr>
      <vt:lpstr>Hanken Grotesk Light</vt:lpstr>
      <vt:lpstr>Elegant Black &amp; White Thesis Defense by Slidesgo</vt:lpstr>
      <vt:lpstr>Progress Meeting : 09.06.25</vt:lpstr>
      <vt:lpstr>Current Literature Review</vt:lpstr>
      <vt:lpstr>Principles of Neural Science, 6e | McGraw Hill Medical</vt:lpstr>
      <vt:lpstr>Usefulness of Thermoreceptors</vt:lpstr>
      <vt:lpstr>Thermoreceptors Implementation in Hardware</vt:lpstr>
      <vt:lpstr>Thermoreceptors Implementation in Hardware</vt:lpstr>
      <vt:lpstr>Thermoreceptors Implementation in Hardware</vt:lpstr>
      <vt:lpstr>PTAT Sensor in Hardware</vt:lpstr>
      <vt:lpstr>Idea</vt:lpstr>
      <vt:lpstr>Literature review (Next-to-Be-Read)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Halbach Quentin</dc:creator>
  <cp:lastModifiedBy>Halbach Quentin</cp:lastModifiedBy>
  <cp:revision>3</cp:revision>
  <dcterms:created xsi:type="dcterms:W3CDTF">2025-06-09T13:01:44Z</dcterms:created>
  <dcterms:modified xsi:type="dcterms:W3CDTF">2025-06-13T13:43:50Z</dcterms:modified>
</cp:coreProperties>
</file>