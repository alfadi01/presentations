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24"/>
  </p:notesMasterIdLst>
  <p:sldIdLst>
    <p:sldId id="256" r:id="rId2"/>
    <p:sldId id="283" r:id="rId3"/>
    <p:sldId id="282" r:id="rId4"/>
    <p:sldId id="280" r:id="rId5"/>
    <p:sldId id="279" r:id="rId6"/>
    <p:sldId id="270" r:id="rId7"/>
    <p:sldId id="287" r:id="rId8"/>
    <p:sldId id="259" r:id="rId9"/>
    <p:sldId id="269" r:id="rId10"/>
    <p:sldId id="285" r:id="rId11"/>
    <p:sldId id="286" r:id="rId12"/>
    <p:sldId id="288" r:id="rId13"/>
    <p:sldId id="289" r:id="rId14"/>
    <p:sldId id="290" r:id="rId15"/>
    <p:sldId id="295" r:id="rId16"/>
    <p:sldId id="272" r:id="rId17"/>
    <p:sldId id="291" r:id="rId18"/>
    <p:sldId id="294" r:id="rId19"/>
    <p:sldId id="292" r:id="rId20"/>
    <p:sldId id="293" r:id="rId21"/>
    <p:sldId id="296" r:id="rId22"/>
    <p:sldId id="297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246F09-B46D-4B76-A7F2-69F4525598FB}">
  <a:tblStyle styleId="{38246F09-B46D-4B76-A7F2-69F4525598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18"/>
    <p:restoredTop sz="94579"/>
  </p:normalViewPr>
  <p:slideViewPr>
    <p:cSldViewPr snapToGrid="0">
      <p:cViewPr varScale="1">
        <p:scale>
          <a:sx n="211" d="100"/>
          <a:sy n="211" d="100"/>
        </p:scale>
        <p:origin x="672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E9854597-33A3-7760-0D1B-F427CBB76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ED0BB8CC-1A05-7F99-1514-28F3A95717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E675C1FF-0E78-475B-105F-7B3BFC812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29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7DC524BF-C9B0-DDA4-49ED-76C0739F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A8CA6123-54F7-1126-D6A6-67F1C650C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F755BC3F-8378-05EA-D6A2-9FD340F6D0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0834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7C0557D1-A1C6-1AAE-8207-7DFB340C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EDE776FA-6066-205F-7788-6E3993280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5A1FDA0B-E38A-347E-C2F4-77BC8BD63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27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3C4D2C14-FD0F-FB55-F16C-BFE95D4A1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2A2CE998-4608-E32D-EF77-09C38680F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83F8FAC6-C299-0420-F16E-0656FA0D8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0829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DDEE53A7-7902-61F4-7379-D0DE68F4E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E9AE241A-FB32-691F-2C94-91E5504060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C96C93F5-2CC3-FD4B-F9FD-2D040BB4C2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6798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9AB1553E-D728-D330-BA69-8AAB20C35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A8DB9A6E-62D9-E4AD-A322-6CBE2D4577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A99608D6-CF1C-8807-6285-7246D94F42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5975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FFA2DA6A-7709-93CA-8E4A-6C0FDA250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A7E97F83-A063-3DD3-9A53-8342C15E1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18606561-86A9-59D4-2EA5-521ABE0031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803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8B3A7572-CD7C-2338-AA66-F863235E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770143DD-2F3E-4906-0C0E-16F518B13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4E4A2A82-4025-2FFD-2A42-A4E7E647B1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882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04012C07-E95B-7E8D-EA55-0D1C3A965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13B6667D-73EF-7F67-4B3B-EB8B044F7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EC06E784-B3C8-5FBC-3635-199121D2E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7822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300AEF2C-C704-2CBA-8BFF-97DF286E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4B15DB5C-0EFB-24A6-89C5-558E9F1AF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9A904E1A-1F53-8AA0-8999-A8470E36F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201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506DD494-6FAA-6F8E-1DEF-81288578A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79A4FFEF-6346-8037-B8B7-2AABCBC7D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A6A450F6-D135-1329-F5D2-8EE60D9232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4641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8BDC3543-6D73-E90C-9933-62693501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46BFE87D-AA6C-9BC6-8088-2407EE8912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6FE9E819-91CB-620E-428A-5E1E83F1C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63934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B405035F-643D-A288-0A97-A89748B8D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C292AE12-610B-A584-6714-5A67EAC729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57A22FE8-9949-4D3A-50F3-0754B8DAC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33566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E2E3D879-355B-1142-5DDD-F138B9E8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556C0CFF-D14A-3E7E-2ECD-B898494A4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A9E306BA-E4D9-1677-936D-59BCE9CFA2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662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66EE40D6-224E-85C6-5191-5B98F7B6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20F327A2-4EAC-EC9D-9CB5-3B55A80AA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3F674206-4749-2705-3CA5-B22177E6D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9909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3B9907F4-7667-66A1-82FB-01135758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9F94D7DC-4557-265D-3BD0-BA59E33798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4906032B-AC68-4CB8-CC54-F366A96682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4349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5910BD8E-6D8F-78D1-9301-D9DEFDB93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E1D43932-FE47-95A3-C7DE-16CAAF5BC6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6E4E71ED-1574-C3D0-BC22-AD5CEAA2A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3927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D3DDEBE3-BA8F-7B18-35EE-7D26A5A26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03867EA6-BBE7-0CC7-998D-747EFD4C6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672287C2-89B8-CCBB-D0D3-DE6E6940B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35269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2B70A13F-9C8B-F071-C645-EB35934CD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02071DF3-5B7C-F8B9-9B63-C259DE863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71B6D0BB-E2AF-EF38-F8A4-F62589EBE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63972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9105AC39-3D26-3936-A91B-216C8A7D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17B02645-473C-FF57-BDF5-8F8BE8D382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60D4B5A1-758F-1D0E-13BB-9EBE8B2EE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52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4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9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E93421-C8C8-4AA7-432B-BE7FAF6B49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B2F143-8CAF-2B68-1FC1-E2E468CA97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6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F809CD-BA76-95E5-9FF3-401021DC12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91F8CD-9094-2379-35FF-50042298C8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19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1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2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3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4"/>
          </p:nvPr>
        </p:nvSpPr>
        <p:spPr>
          <a:xfrm>
            <a:off x="977804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5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6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6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subTitle" idx="1"/>
          </p:nvPr>
        </p:nvSpPr>
        <p:spPr>
          <a:xfrm>
            <a:off x="874135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subTitle" idx="2"/>
          </p:nvPr>
        </p:nvSpPr>
        <p:spPr>
          <a:xfrm>
            <a:off x="3319801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subTitle" idx="3"/>
          </p:nvPr>
        </p:nvSpPr>
        <p:spPr>
          <a:xfrm>
            <a:off x="874135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23"/>
          <p:cNvSpPr txBox="1">
            <a:spLocks noGrp="1"/>
          </p:cNvSpPr>
          <p:nvPr>
            <p:ph type="subTitle" idx="4"/>
          </p:nvPr>
        </p:nvSpPr>
        <p:spPr>
          <a:xfrm>
            <a:off x="3319801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subTitle" idx="5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3" name="Google Shape;223;p23"/>
          <p:cNvSpPr txBox="1">
            <a:spLocks noGrp="1"/>
          </p:cNvSpPr>
          <p:nvPr>
            <p:ph type="subTitle" idx="6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4" name="Google Shape;224;p23"/>
          <p:cNvSpPr txBox="1">
            <a:spLocks noGrp="1"/>
          </p:cNvSpPr>
          <p:nvPr>
            <p:ph type="subTitle" idx="7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8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6" name="Google Shape;226;p23"/>
          <p:cNvSpPr txBox="1">
            <a:spLocks noGrp="1"/>
          </p:cNvSpPr>
          <p:nvPr>
            <p:ph type="subTitle" idx="9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13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subTitle" idx="14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subTitle" idx="15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6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6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1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5" r:id="rId3"/>
    <p:sldLayoutId id="2147483669" r:id="rId4"/>
    <p:sldLayoutId id="2147483674" r:id="rId5"/>
    <p:sldLayoutId id="2147483675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400" b="1" noProof="0" dirty="0"/>
              <a:t>Chip Experiment Setup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2CF7BCC5-6A45-58E3-4152-61DB9AA6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2CFD7219-67E1-2507-3608-6239FCEEE9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5400" b="1" noProof="0" dirty="0"/>
              <a:t>Comparison with SOA</a:t>
            </a:r>
            <a:endParaRPr lang="en-US" noProof="0" dirty="0"/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E3698E24-778A-BE48-78A1-8D811CB4AA3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6017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FD7E7692-1CDD-D80D-7616-0EB29B70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260E4C50-7D3F-A3BC-4C73-CC0CF00F34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7658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noProof="0" dirty="0"/>
              <a:t>Comparison with SOA</a:t>
            </a:r>
          </a:p>
        </p:txBody>
      </p:sp>
      <p:graphicFrame>
        <p:nvGraphicFramePr>
          <p:cNvPr id="10" name="Google Shape;614;p50">
            <a:extLst>
              <a:ext uri="{FF2B5EF4-FFF2-40B4-BE49-F238E27FC236}">
                <a16:creationId xmlns:a16="http://schemas.microsoft.com/office/drawing/2014/main" id="{A49FCF40-AA84-6927-6C16-05DC96F618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3848733"/>
              </p:ext>
            </p:extLst>
          </p:nvPr>
        </p:nvGraphicFramePr>
        <p:xfrm>
          <a:off x="446869" y="920416"/>
          <a:ext cx="8250262" cy="3894489"/>
        </p:xfrm>
        <a:graphic>
          <a:graphicData uri="http://schemas.openxmlformats.org/drawingml/2006/table">
            <a:tbl>
              <a:tblPr>
                <a:tableStyleId>{38246F09-B46D-4B76-A7F2-69F4525598FB}</a:tableStyleId>
              </a:tblPr>
              <a:tblGrid>
                <a:gridCol w="145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5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7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69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5319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noProof="0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sym typeface="Figtree Black"/>
                        </a:rPr>
                        <a:t>Caviglia et al.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sym typeface="Figtree Black"/>
                        </a:rPr>
                        <a:t>(2016)</a:t>
                      </a:r>
                      <a:endParaRPr lang="en-US" sz="1200" noProof="0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sym typeface="Figtree Black"/>
                        </a:rPr>
                        <a:t>Khalil et al.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sym typeface="Figtree Black"/>
                        </a:rPr>
                        <a:t>(2018)</a:t>
                      </a:r>
                      <a:endParaRPr lang="en-US" sz="1200" noProof="0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 err="1">
                          <a:solidFill>
                            <a:schemeClr val="dk1"/>
                          </a:solidFill>
                          <a:sym typeface="Figtree Black"/>
                        </a:rPr>
                        <a:t>Simmich</a:t>
                      </a:r>
                      <a:r>
                        <a:rPr lang="en-US" sz="1200" noProof="0" dirty="0">
                          <a:solidFill>
                            <a:schemeClr val="dk1"/>
                          </a:solidFill>
                          <a:sym typeface="Figtree Black"/>
                        </a:rPr>
                        <a:t> et al.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sym typeface="Figtree Black"/>
                        </a:rPr>
                        <a:t>(2023)</a:t>
                      </a:r>
                      <a:endParaRPr lang="en-US" sz="1200" noProof="0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Lee et al.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(2024)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Alea et al.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(2024)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Narayanan et al.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(2023)</a:t>
                      </a: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2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0" dirty="0">
                          <a:solidFill>
                            <a:schemeClr val="dk1"/>
                          </a:solidFill>
                          <a:sym typeface="Hanken Grotesk"/>
                        </a:rPr>
                        <a:t>Sensor</a:t>
                      </a:r>
                      <a:endParaRPr lang="en-US" sz="1200" b="1" noProof="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POSFET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POSFET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 err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PiezoFET</a:t>
                      </a:r>
                      <a:endParaRPr lang="en-US" sz="1200" noProof="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Triboelectric Nanogenerator (TENG)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PVDF-based Piezo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General purpose</a:t>
                      </a: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2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0" dirty="0">
                          <a:solidFill>
                            <a:schemeClr val="dk1"/>
                          </a:solidFill>
                          <a:sym typeface="Hanken Grotesk"/>
                        </a:rPr>
                        <a:t>Encoding Scheme</a:t>
                      </a:r>
                      <a:endParaRPr lang="en-US" sz="1200" b="1" noProof="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SA (using + and - LIF)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Extension of Caviglia et al.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SA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SA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FA with exponential decay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FA + SA</a:t>
                      </a: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2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0" dirty="0">
                          <a:solidFill>
                            <a:schemeClr val="dk1"/>
                          </a:solidFill>
                          <a:sym typeface="Hanken Grotesk"/>
                        </a:rPr>
                        <a:t>Input Frequency</a:t>
                      </a:r>
                      <a:endParaRPr lang="en-US" sz="1200" b="1" noProof="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1-1000 Hz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Sensitivity to input signal increased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&lt; 1 kHz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Tested with a shaker at 1 Hz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0.1-1 kHz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noProof="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0.1-100kHz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noProof="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57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0" dirty="0">
                          <a:solidFill>
                            <a:schemeClr val="dk1"/>
                          </a:solidFill>
                          <a:sym typeface="Hanken Grotesk"/>
                        </a:rPr>
                        <a:t>Output Frequency</a:t>
                      </a:r>
                      <a:endParaRPr lang="en-US" sz="1200" b="1" noProof="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1.2-50 kHz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Lower Output Frequency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&lt; 180 Hz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10 Hz -3 kHz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?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0.1-100kHz</a:t>
                      </a: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57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0" dirty="0">
                          <a:solidFill>
                            <a:schemeClr val="dk1"/>
                          </a:solidFill>
                          <a:sym typeface="Hanken Grotesk"/>
                        </a:rPr>
                        <a:t>Sensitivity (Hz/N)</a:t>
                      </a:r>
                      <a:endParaRPr lang="en-US" sz="1200" b="1" noProof="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40k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noProof="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200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(2-60 N)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0.4fF p-p input referred charge noise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1.4uV input referred noise</a:t>
                      </a: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8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0898EF5C-6EA0-7395-CE47-F26FCBC37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989D1A60-7AED-AC2B-D99D-7FF18C7D58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noProof="0" dirty="0"/>
              <a:t>Desired Chip Performance</a:t>
            </a: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10E14F6E-8D44-A7E4-0542-C751840A1CC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3112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EA4D3C99-2A87-96F4-60F6-943D8C27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4015FF40-BFF7-BF34-6418-F490DB36B2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noProof="0" dirty="0"/>
              <a:t>Stimulus Characterization</a:t>
            </a: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7CB63620-49A1-5513-8DED-C308043FED6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272484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noProof="0" dirty="0"/>
              <a:t>Stimulus Characterization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1DDC7-D72C-5209-72CB-FA40CF5005B8}"/>
              </a:ext>
            </a:extLst>
          </p:cNvPr>
          <p:cNvSpPr txBox="1"/>
          <p:nvPr/>
        </p:nvSpPr>
        <p:spPr>
          <a:xfrm>
            <a:off x="445273" y="1742000"/>
            <a:ext cx="84469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SOA, most papers have done only electric characterization of the proposed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Two types of stimulus : static and dynamic.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For both types, both electrical and mechanical (sensor) characterization should be done (on 1 </a:t>
            </a:r>
            <a:r>
              <a:rPr lang="en-US" noProof="0" dirty="0" err="1"/>
              <a:t>taxel</a:t>
            </a:r>
            <a:r>
              <a:rPr lang="en-US" noProof="0" dirty="0"/>
              <a:t> and on groups of </a:t>
            </a:r>
            <a:r>
              <a:rPr lang="en-US" noProof="0" dirty="0" err="1"/>
              <a:t>taxels</a:t>
            </a:r>
            <a:r>
              <a:rPr lang="en-US" noProof="0" dirty="0"/>
              <a:t> to study the mismatch).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For mechanical characterization, a useful test would be to plot the instantaneous output frequency of the SA for different stimuli strength.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6C583776-300E-EB29-8BEF-49C77A00F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C4DF0473-874F-6978-A868-6EB655E138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noProof="0" dirty="0"/>
              <a:t>Drift Characterization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BD6F9D-A9D5-2276-5E34-529662F79F4F}"/>
              </a:ext>
            </a:extLst>
          </p:cNvPr>
          <p:cNvSpPr txBox="1"/>
          <p:nvPr/>
        </p:nvSpPr>
        <p:spPr>
          <a:xfrm>
            <a:off x="445273" y="1742000"/>
            <a:ext cx="84469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Caviglia et al. (2016), a drift characterization has been performed.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lvl="8"/>
            <a:r>
              <a:rPr lang="en-US" noProof="0" dirty="0"/>
              <a:t> =&gt; Drift with a pseudo-exponential slope of 1.2V with a time constant of 640 seconds.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For our test, acquisition of the V</a:t>
            </a:r>
            <a:r>
              <a:rPr lang="en-US" baseline="-25000" noProof="0" dirty="0"/>
              <a:t>in </a:t>
            </a:r>
            <a:r>
              <a:rPr lang="en-US" noProof="0" dirty="0"/>
              <a:t> and </a:t>
            </a:r>
            <a:r>
              <a:rPr lang="en-US" noProof="0" dirty="0" err="1"/>
              <a:t>V</a:t>
            </a:r>
            <a:r>
              <a:rPr lang="en-US" baseline="-25000" noProof="0" dirty="0" err="1"/>
              <a:t>diff</a:t>
            </a:r>
            <a:r>
              <a:rPr lang="en-US" noProof="0" dirty="0"/>
              <a:t> for t seconds for a constant stimulus (after reset pulse for capacitive amplifier).</a:t>
            </a:r>
            <a:endParaRPr lang="en-US" baseline="-25000" noProof="0" dirty="0"/>
          </a:p>
        </p:txBody>
      </p:sp>
    </p:spTree>
    <p:extLst>
      <p:ext uri="{BB962C8B-B14F-4D97-AF65-F5344CB8AC3E}">
        <p14:creationId xmlns:p14="http://schemas.microsoft.com/office/powerpoint/2010/main" val="2947874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F424FC57-5C16-0308-98D8-82B1F2E29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9394EFFA-D056-7F7D-0778-E4D65225C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noProof="0" dirty="0"/>
              <a:t>Fast Adapting Circuit</a:t>
            </a: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9EA510B4-DD74-FB2C-8CAF-6257FB6E2C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1712087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79C3D826-925E-451C-AE38-4D776A213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A82F1CE5-259B-FD82-D7C4-8F266C9726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noProof="0" dirty="0"/>
              <a:t>Fast Adapting Circuit</a:t>
            </a:r>
          </a:p>
        </p:txBody>
      </p:sp>
      <p:sp>
        <p:nvSpPr>
          <p:cNvPr id="506" name="Google Shape;506;p46">
            <a:extLst>
              <a:ext uri="{FF2B5EF4-FFF2-40B4-BE49-F238E27FC236}">
                <a16:creationId xmlns:a16="http://schemas.microsoft.com/office/drawing/2014/main" id="{8D42CDF5-00DE-846E-5406-FC583B5176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77798" y="2540541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noProof="0" dirty="0"/>
              <a:t>FA-I : 3-40 Hz</a:t>
            </a:r>
          </a:p>
          <a:p>
            <a:pPr marL="0" indent="0"/>
            <a:endParaRPr lang="en-US" noProof="0" dirty="0"/>
          </a:p>
          <a:p>
            <a:pPr marL="0" indent="0"/>
            <a:r>
              <a:rPr lang="en-US" noProof="0" dirty="0"/>
              <a:t>FA-II : 40-500 Hz</a:t>
            </a:r>
          </a:p>
        </p:txBody>
      </p:sp>
      <p:sp>
        <p:nvSpPr>
          <p:cNvPr id="507" name="Google Shape;507;p46">
            <a:extLst>
              <a:ext uri="{FF2B5EF4-FFF2-40B4-BE49-F238E27FC236}">
                <a16:creationId xmlns:a16="http://schemas.microsoft.com/office/drawing/2014/main" id="{D01002EA-9875-29AB-6198-2BD95748E51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16107" y="2764229"/>
            <a:ext cx="2242500" cy="388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noProof="0" dirty="0"/>
              <a:t>Few Hz to 1kHz</a:t>
            </a:r>
          </a:p>
        </p:txBody>
      </p:sp>
      <p:sp>
        <p:nvSpPr>
          <p:cNvPr id="509" name="Google Shape;509;p46">
            <a:extLst>
              <a:ext uri="{FF2B5EF4-FFF2-40B4-BE49-F238E27FC236}">
                <a16:creationId xmlns:a16="http://schemas.microsoft.com/office/drawing/2014/main" id="{DFC594AC-F7D9-1494-584E-0135BA0C75B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77798" y="1780012"/>
            <a:ext cx="2242500" cy="4879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b="1" noProof="0" dirty="0"/>
              <a:t>Biology Aspect</a:t>
            </a:r>
          </a:p>
        </p:txBody>
      </p:sp>
      <p:sp>
        <p:nvSpPr>
          <p:cNvPr id="510" name="Google Shape;510;p46">
            <a:extLst>
              <a:ext uri="{FF2B5EF4-FFF2-40B4-BE49-F238E27FC236}">
                <a16:creationId xmlns:a16="http://schemas.microsoft.com/office/drawing/2014/main" id="{A11CD687-8A99-E0AA-2E37-4210C1A70B5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316107" y="1902253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b="1" noProof="0" dirty="0"/>
              <a:t>Engineering Aspect</a:t>
            </a:r>
          </a:p>
        </p:txBody>
      </p:sp>
    </p:spTree>
    <p:extLst>
      <p:ext uri="{BB962C8B-B14F-4D97-AF65-F5344CB8AC3E}">
        <p14:creationId xmlns:p14="http://schemas.microsoft.com/office/powerpoint/2010/main" val="4161793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6972D04D-7FBD-C8A9-FE51-CAE24AE6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18378595-3B92-036E-6952-9407759CC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noProof="0" dirty="0"/>
              <a:t>Slow Adapting Circuit</a:t>
            </a: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AF3A2166-7904-BD27-49B5-96CE25931AE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2.3</a:t>
            </a:r>
          </a:p>
        </p:txBody>
      </p:sp>
    </p:spTree>
    <p:extLst>
      <p:ext uri="{BB962C8B-B14F-4D97-AF65-F5344CB8AC3E}">
        <p14:creationId xmlns:p14="http://schemas.microsoft.com/office/powerpoint/2010/main" val="2450253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ECBEF744-3175-3535-92E0-518734CEE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F1A52332-B17C-392E-CFEF-E33BA744D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noProof="0" dirty="0"/>
              <a:t>Slow Adapting Circuit</a:t>
            </a:r>
          </a:p>
        </p:txBody>
      </p:sp>
      <p:sp>
        <p:nvSpPr>
          <p:cNvPr id="506" name="Google Shape;506;p46">
            <a:extLst>
              <a:ext uri="{FF2B5EF4-FFF2-40B4-BE49-F238E27FC236}">
                <a16:creationId xmlns:a16="http://schemas.microsoft.com/office/drawing/2014/main" id="{8CBFAA9D-3FE0-AE3D-D162-BCD3AAA25BA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9751" y="214951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noProof="0" dirty="0"/>
              <a:t>SA-I : 0.3-4 Hz</a:t>
            </a:r>
          </a:p>
          <a:p>
            <a:pPr marL="0" indent="0"/>
            <a:endParaRPr lang="en-US" noProof="0" dirty="0"/>
          </a:p>
          <a:p>
            <a:pPr marL="0" indent="0"/>
            <a:r>
              <a:rPr lang="en-US" noProof="0" dirty="0"/>
              <a:t>SA-II : 100-500 Hz</a:t>
            </a:r>
          </a:p>
        </p:txBody>
      </p:sp>
      <p:sp>
        <p:nvSpPr>
          <p:cNvPr id="507" name="Google Shape;507;p46">
            <a:extLst>
              <a:ext uri="{FF2B5EF4-FFF2-40B4-BE49-F238E27FC236}">
                <a16:creationId xmlns:a16="http://schemas.microsoft.com/office/drawing/2014/main" id="{7645097B-4A7F-176B-3112-BAC8188D373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298060" y="2373203"/>
            <a:ext cx="2242500" cy="388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noProof="0" dirty="0"/>
              <a:t>Few Hz to 500Hz</a:t>
            </a:r>
          </a:p>
        </p:txBody>
      </p:sp>
      <p:sp>
        <p:nvSpPr>
          <p:cNvPr id="509" name="Google Shape;509;p46">
            <a:extLst>
              <a:ext uri="{FF2B5EF4-FFF2-40B4-BE49-F238E27FC236}">
                <a16:creationId xmlns:a16="http://schemas.microsoft.com/office/drawing/2014/main" id="{63E814E4-84FF-8AEB-01ED-0E292FD0F45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59751" y="1388986"/>
            <a:ext cx="2242500" cy="4879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b="1" noProof="0" dirty="0"/>
              <a:t>Biology Aspect</a:t>
            </a:r>
          </a:p>
        </p:txBody>
      </p:sp>
      <p:sp>
        <p:nvSpPr>
          <p:cNvPr id="510" name="Google Shape;510;p46">
            <a:extLst>
              <a:ext uri="{FF2B5EF4-FFF2-40B4-BE49-F238E27FC236}">
                <a16:creationId xmlns:a16="http://schemas.microsoft.com/office/drawing/2014/main" id="{601B1711-74C1-92CF-FB15-2AE5507A3A8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298060" y="1511227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b="1" noProof="0" dirty="0"/>
              <a:t>Engineering Aspect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2C461E-ECDB-7C7C-BDF3-137BB0EA88BB}"/>
              </a:ext>
            </a:extLst>
          </p:cNvPr>
          <p:cNvSpPr txBox="1"/>
          <p:nvPr/>
        </p:nvSpPr>
        <p:spPr>
          <a:xfrm>
            <a:off x="720000" y="3898232"/>
            <a:ext cx="7465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Might be difficult to properly characterize the SA behavior due to the drift in the input voltage.</a:t>
            </a:r>
          </a:p>
        </p:txBody>
      </p:sp>
    </p:spTree>
    <p:extLst>
      <p:ext uri="{BB962C8B-B14F-4D97-AF65-F5344CB8AC3E}">
        <p14:creationId xmlns:p14="http://schemas.microsoft.com/office/powerpoint/2010/main" val="3003352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ADA19511-3E3C-EB43-2822-8971A772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91583E8D-D42E-696A-2AD0-5F9C623832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noProof="0" dirty="0"/>
              <a:t>ATIS Circuit</a:t>
            </a: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FF04E8B6-75A7-7675-AD2E-8ED62453B66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2.4</a:t>
            </a:r>
          </a:p>
        </p:txBody>
      </p:sp>
    </p:spTree>
    <p:extLst>
      <p:ext uri="{BB962C8B-B14F-4D97-AF65-F5344CB8AC3E}">
        <p14:creationId xmlns:p14="http://schemas.microsoft.com/office/powerpoint/2010/main" val="404721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54E2F48F-44F2-4F36-D19A-32FC011D6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ECD8F532-701B-F141-47AB-9F9DEBF2D7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noProof="0" dirty="0"/>
              <a:t>ATIS Circuit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55E586-593E-A0BD-C11B-6202B075CDF7}"/>
              </a:ext>
            </a:extLst>
          </p:cNvPr>
          <p:cNvSpPr txBox="1"/>
          <p:nvPr/>
        </p:nvSpPr>
        <p:spPr>
          <a:xfrm>
            <a:off x="253349" y="2057400"/>
            <a:ext cx="86373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The ATIS performance should be able to match the FA max output firing rate.</a:t>
            </a:r>
          </a:p>
          <a:p>
            <a:endParaRPr lang="en-US" noProof="0" dirty="0"/>
          </a:p>
          <a:p>
            <a:r>
              <a:rPr lang="en-US" noProof="0" dirty="0"/>
              <a:t>The second threshold crossing generated spike should happen before a new spike from the FA is triggered.</a:t>
            </a:r>
          </a:p>
        </p:txBody>
      </p:sp>
    </p:spTree>
    <p:extLst>
      <p:ext uri="{BB962C8B-B14F-4D97-AF65-F5344CB8AC3E}">
        <p14:creationId xmlns:p14="http://schemas.microsoft.com/office/powerpoint/2010/main" val="2322469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0F40B2A4-64B5-CA68-81A3-966F9CC4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00168B63-885F-BE84-0BBF-E1146EA26B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noProof="0" dirty="0"/>
              <a:t>FA and SA Circuits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A1416C-9465-9AC9-854C-D03D24C357D3}"/>
              </a:ext>
            </a:extLst>
          </p:cNvPr>
          <p:cNvSpPr txBox="1"/>
          <p:nvPr/>
        </p:nvSpPr>
        <p:spPr>
          <a:xfrm>
            <a:off x="788068" y="1997242"/>
            <a:ext cx="712887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Operation corners should be tested for the FA and SA circuits : </a:t>
            </a:r>
          </a:p>
          <a:p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Very low strength stimulus (few mV p2p) with high/low amplification 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Very high strength stimulus (around 1V p2p) with low/high amplification 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r>
              <a:rPr lang="en-US" noProof="0" dirty="0"/>
              <a:t>Diverse stimuli shapes (square and sinusoidal) and frequencies (10 Hz to 1 kHz) should</a:t>
            </a:r>
          </a:p>
          <a:p>
            <a:r>
              <a:rPr lang="en-US" noProof="0" dirty="0"/>
              <a:t>also be tested (first electrically and then mechanically).</a:t>
            </a:r>
          </a:p>
        </p:txBody>
      </p:sp>
    </p:spTree>
    <p:extLst>
      <p:ext uri="{BB962C8B-B14F-4D97-AF65-F5344CB8AC3E}">
        <p14:creationId xmlns:p14="http://schemas.microsoft.com/office/powerpoint/2010/main" val="2017258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98A17CE7-D744-8322-04F5-C3D2E5E1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B897F945-1988-0B17-DA3A-159C71991D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noProof="0" dirty="0"/>
              <a:t>Miscellaneous Tests and Metrics</a:t>
            </a: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0240ABE1-EFE3-6AB4-2BFA-46BC4013016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2.5</a:t>
            </a:r>
          </a:p>
        </p:txBody>
      </p:sp>
    </p:spTree>
    <p:extLst>
      <p:ext uri="{BB962C8B-B14F-4D97-AF65-F5344CB8AC3E}">
        <p14:creationId xmlns:p14="http://schemas.microsoft.com/office/powerpoint/2010/main" val="2000601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08ADD1DA-F96F-653D-55ED-17562E34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38FB0357-6EDD-D00A-8F27-052E28028E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noProof="0" dirty="0"/>
              <a:t>Event communication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286EC5-F7C8-9D63-4CBF-AC0433D2259C}"/>
              </a:ext>
            </a:extLst>
          </p:cNvPr>
          <p:cNvSpPr txBox="1"/>
          <p:nvPr/>
        </p:nvSpPr>
        <p:spPr>
          <a:xfrm>
            <a:off x="348543" y="1393085"/>
            <a:ext cx="84469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AER performance should be tested (</a:t>
            </a:r>
            <a:r>
              <a:rPr lang="en-US" noProof="0" dirty="0">
                <a:solidFill>
                  <a:srgbClr val="0070C0"/>
                </a:solidFill>
              </a:rPr>
              <a:t>in the worst case</a:t>
            </a:r>
            <a:r>
              <a:rPr lang="en-US" noProof="0" dirty="0"/>
              <a:t>) with high firing activity from the FA and the SA simultaneously for many </a:t>
            </a:r>
            <a:r>
              <a:rPr lang="en-US" noProof="0" dirty="0" err="1"/>
              <a:t>taxels</a:t>
            </a:r>
            <a:r>
              <a:rPr lang="en-US" noProof="0" dirty="0"/>
              <a:t> at the same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lvl="8"/>
            <a:r>
              <a:rPr lang="en-US" noProof="0" dirty="0"/>
              <a:t>	=&gt; Quantify maximal frequency of operation of the AER.</a:t>
            </a:r>
          </a:p>
          <a:p>
            <a:pPr lvl="8"/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case of maximal frequency of operation of the AER, the communication scheme used between the chip and the FPGA should not introduce any latency.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lvl="1"/>
            <a:r>
              <a:rPr lang="en-US" noProof="0" dirty="0"/>
              <a:t>	=&gt; Rate of transmission should be &gt; f</a:t>
            </a:r>
            <a:r>
              <a:rPr lang="en-US" baseline="-25000" noProof="0" dirty="0"/>
              <a:t>max</a:t>
            </a:r>
            <a:r>
              <a:rPr lang="en-US" noProof="0" dirty="0"/>
              <a:t> of AER.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Test the Snowball AER to quantify the delay for a spike generated at the beginning of the array to arrive at the output of the SNBL.</a:t>
            </a:r>
          </a:p>
        </p:txBody>
      </p:sp>
    </p:spTree>
    <p:extLst>
      <p:ext uri="{BB962C8B-B14F-4D97-AF65-F5344CB8AC3E}">
        <p14:creationId xmlns:p14="http://schemas.microsoft.com/office/powerpoint/2010/main" val="355728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4B93C29C-026B-3427-D3BE-9971140E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4236F54C-1046-BDEE-39EB-644299037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noProof="0" dirty="0"/>
              <a:t>Data Stream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486C02-9FB6-9A84-7900-062628BA8D34}"/>
              </a:ext>
            </a:extLst>
          </p:cNvPr>
          <p:cNvSpPr txBox="1"/>
          <p:nvPr/>
        </p:nvSpPr>
        <p:spPr>
          <a:xfrm>
            <a:off x="445273" y="1742000"/>
            <a:ext cx="84469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order to set the biases and parameters of the chip, the digital stream of data should be quick enough not to see any latency.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r>
              <a:rPr lang="en-US" noProof="0" dirty="0"/>
              <a:t>	=&gt; should take a few milliseconds (or less). As long as it is not in the order of seconds.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There are two different data streams going through the chip (one for the main circuits and one for the test circuits).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Testing the correct functioning of the data stream could then be done first with the test circuits as it is relatively short.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8715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CFA96131-60AA-6087-2B7D-75B701805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E8D705DA-4A93-76B5-BFE8-2A928B47AF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noProof="0" dirty="0"/>
              <a:t>Reset and Triggers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835047-2BF0-CCDE-3F43-9D4FAC824366}"/>
              </a:ext>
            </a:extLst>
          </p:cNvPr>
          <p:cNvSpPr txBox="1"/>
          <p:nvPr/>
        </p:nvSpPr>
        <p:spPr>
          <a:xfrm>
            <a:off x="445273" y="1742000"/>
            <a:ext cx="84469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Test to check whether the chip behaves correctly when the reset is activated.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Test whether a specific circuit in a certain </a:t>
            </a:r>
            <a:r>
              <a:rPr lang="en-US" noProof="0" dirty="0" err="1"/>
              <a:t>taxel</a:t>
            </a:r>
            <a:r>
              <a:rPr lang="en-US" noProof="0" dirty="0"/>
              <a:t> can correctly be disabled and does not generate spikes when it should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Test the global trigger of the ATIS circuit.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5387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CD506CF7-12DF-D2B2-655B-9D6716F2C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70A43388-E4A6-FCAB-524B-82921C133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noProof="0" dirty="0"/>
              <a:t>Power consumption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BA51AC-B8D4-3C33-E543-49DCA5F859F6}"/>
              </a:ext>
            </a:extLst>
          </p:cNvPr>
          <p:cNvSpPr txBox="1"/>
          <p:nvPr/>
        </p:nvSpPr>
        <p:spPr>
          <a:xfrm>
            <a:off x="348543" y="1104326"/>
            <a:ext cx="844691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many papers of the SOA, the power consumption is given per </a:t>
            </a:r>
            <a:r>
              <a:rPr lang="en-US" noProof="0" dirty="0" err="1"/>
              <a:t>taxel</a:t>
            </a:r>
            <a:r>
              <a:rPr lang="en-US" noProof="0" dirty="0"/>
              <a:t> or for the entire chip with no specification on the activity of the chip.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One better approach would be to compute it for different output frequencies (either only FA + ACE or FA + SA or per single modality).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lvl="8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lvl="8"/>
            <a:r>
              <a:rPr lang="en-US" noProof="0" dirty="0"/>
              <a:t>	- Per </a:t>
            </a:r>
            <a:r>
              <a:rPr lang="en-US" noProof="0" dirty="0" err="1"/>
              <a:t>taxel</a:t>
            </a:r>
            <a:r>
              <a:rPr lang="en-US" noProof="0" dirty="0"/>
              <a:t>.</a:t>
            </a:r>
          </a:p>
          <a:p>
            <a:pPr lvl="8"/>
            <a:endParaRPr lang="en-US" noProof="0" dirty="0"/>
          </a:p>
          <a:p>
            <a:pPr lvl="8"/>
            <a:r>
              <a:rPr lang="en-US" noProof="0" dirty="0"/>
              <a:t>	- For the entire </a:t>
            </a:r>
            <a:r>
              <a:rPr lang="en-US" noProof="0" dirty="0" err="1"/>
              <a:t>taxel</a:t>
            </a:r>
            <a:r>
              <a:rPr lang="en-US" noProof="0" dirty="0"/>
              <a:t> array.</a:t>
            </a:r>
          </a:p>
          <a:p>
            <a:pPr lvl="8"/>
            <a:endParaRPr lang="en-US" noProof="0" dirty="0"/>
          </a:p>
          <a:p>
            <a:pPr lvl="8"/>
            <a:r>
              <a:rPr lang="en-US" noProof="0" dirty="0"/>
              <a:t>	- For the entire chip (without test circuits or </a:t>
            </a:r>
            <a:r>
              <a:rPr lang="en-US" noProof="0" dirty="0" err="1"/>
              <a:t>Groenigen</a:t>
            </a:r>
            <a:r>
              <a:rPr lang="en-US" noProof="0" dirty="0"/>
              <a:t> circuits).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Need to plan for power measurements on the FPGA/computer.</a:t>
            </a:r>
          </a:p>
        </p:txBody>
      </p:sp>
    </p:spTree>
    <p:extLst>
      <p:ext uri="{BB962C8B-B14F-4D97-AF65-F5344CB8AC3E}">
        <p14:creationId xmlns:p14="http://schemas.microsoft.com/office/powerpoint/2010/main" val="3419934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96D21055-A7B1-362D-2D59-63EC97DF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F0DEFD3B-A5E7-B898-1115-A8A76B235A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noProof="0" dirty="0"/>
              <a:t>Connections to the chip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C4C5DD-0BA4-D060-8974-CB4E61C581CD}"/>
              </a:ext>
            </a:extLst>
          </p:cNvPr>
          <p:cNvSpPr txBox="1"/>
          <p:nvPr/>
        </p:nvSpPr>
        <p:spPr>
          <a:xfrm>
            <a:off x="348543" y="1459258"/>
            <a:ext cx="84469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We have 256 pads on the chip.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There are 66 </a:t>
            </a:r>
            <a:r>
              <a:rPr lang="en-US" noProof="0" dirty="0" err="1"/>
              <a:t>taxels</a:t>
            </a:r>
            <a:r>
              <a:rPr lang="en-US" noProof="0" dirty="0"/>
              <a:t> that necessitate an input. It should either be connected to a DAC (to generate synthetic input signals) or to a sensor (to treat mechanical stimuli).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digital pins of the chip (input/output) should be handled by the FPGA (?).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analog pins (excluding the </a:t>
            </a:r>
            <a:r>
              <a:rPr lang="en-US" noProof="0" dirty="0" err="1"/>
              <a:t>taxels</a:t>
            </a:r>
            <a:r>
              <a:rPr lang="en-US" noProof="0" dirty="0"/>
              <a:t> pads) should either be connected to ADC or DAC.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Can the FPGA handle everything ? (Data stream, AER communication, reading of debug signals).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6986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52791287-06C8-87E9-DB35-A1521BC0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4B6F6AAC-92E7-1526-CAB3-5073DFD49E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noProof="0" dirty="0"/>
              <a:t>Similar setup for the test circuits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8BF980-B127-F450-A4A6-80A1E2974B19}"/>
              </a:ext>
            </a:extLst>
          </p:cNvPr>
          <p:cNvSpPr txBox="1"/>
          <p:nvPr/>
        </p:nvSpPr>
        <p:spPr>
          <a:xfrm>
            <a:off x="445273" y="1742000"/>
            <a:ext cx="84469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For the test circuits, the events are directly assigned to a distinct pad of the chip.</a:t>
            </a:r>
          </a:p>
          <a:p>
            <a:endParaRPr lang="en-US" noProof="0" dirty="0"/>
          </a:p>
          <a:p>
            <a:r>
              <a:rPr lang="en-US" noProof="0" dirty="0"/>
              <a:t>	=&gt; Connected to FPGA for processing.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For the analog inputs, it should either be connected to a DAC (to generate synthetic input signals) or to a sensor (to treat mechanical stimuli).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59775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CA481EDE-6922-5E8E-A898-3C49200E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9E3EAAE0-6956-B2AB-7DE5-46C8057A5D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noProof="0" dirty="0"/>
              <a:t>Software Development and FPGA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47F8DC-1A4E-9B13-CFE3-72271A06349C}"/>
              </a:ext>
            </a:extLst>
          </p:cNvPr>
          <p:cNvSpPr txBox="1"/>
          <p:nvPr/>
        </p:nvSpPr>
        <p:spPr>
          <a:xfrm>
            <a:off x="445273" y="1742000"/>
            <a:ext cx="84469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Can the software be developed independently from the FPGA ?</a:t>
            </a:r>
          </a:p>
          <a:p>
            <a:endParaRPr lang="en-US" dirty="0"/>
          </a:p>
          <a:p>
            <a:endParaRPr lang="en-US" noProof="0" dirty="0"/>
          </a:p>
          <a:p>
            <a:endParaRPr lang="en-US" dirty="0"/>
          </a:p>
          <a:p>
            <a:endParaRPr lang="en-US" noProof="0" dirty="0"/>
          </a:p>
          <a:p>
            <a:r>
              <a:rPr lang="en-US" dirty="0"/>
              <a:t>Do we need anything else than ADCs, DACs and the FPGA ? How to connect the sensors to the chip (connection from the sensor to the PCB then to the chip) ? What about additional noise ?</a:t>
            </a:r>
            <a:r>
              <a:rPr lang="en-US" noProof="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2087188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_phd" id="{7DA0C298-FB22-B342-8752-D9945C0E3886}" vid="{AB00EB4F-3D04-6340-A048-9C0D868CF61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Elegant Black &amp; White Thesis Defense by Slidesgo</Template>
  <TotalTime>787</TotalTime>
  <Words>1049</Words>
  <Application>Microsoft Macintosh PowerPoint</Application>
  <PresentationFormat>On-screen Show (16:9)</PresentationFormat>
  <Paragraphs>181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Figtree Black</vt:lpstr>
      <vt:lpstr>Hanken Grotesk</vt:lpstr>
      <vt:lpstr>Elegant Black &amp; White Thesis Defense by Slidesgo</vt:lpstr>
      <vt:lpstr>Chip Experiment Setup</vt:lpstr>
      <vt:lpstr>Comparison with SOA</vt:lpstr>
      <vt:lpstr>Comparison with SOA</vt:lpstr>
      <vt:lpstr>Desired Chip Performance</vt:lpstr>
      <vt:lpstr>Stimulus Characterization</vt:lpstr>
      <vt:lpstr>Stimulus Characterization</vt:lpstr>
      <vt:lpstr>Drift Characterization</vt:lpstr>
      <vt:lpstr>Fast Adapting Circuit</vt:lpstr>
      <vt:lpstr>Fast Adapting Circuit</vt:lpstr>
      <vt:lpstr>Slow Adapting Circuit</vt:lpstr>
      <vt:lpstr>Slow Adapting Circuit</vt:lpstr>
      <vt:lpstr>ATIS Circuit</vt:lpstr>
      <vt:lpstr>ATIS Circuit</vt:lpstr>
      <vt:lpstr>FA and SA Circuits</vt:lpstr>
      <vt:lpstr>Miscellaneous Tests and Metrics</vt:lpstr>
      <vt:lpstr>Event communication</vt:lpstr>
      <vt:lpstr>Data Stream </vt:lpstr>
      <vt:lpstr>Reset and Triggers</vt:lpstr>
      <vt:lpstr>Power consumption</vt:lpstr>
      <vt:lpstr>Connections to the chip</vt:lpstr>
      <vt:lpstr>Similar setup for the test circuits</vt:lpstr>
      <vt:lpstr>Software Development and FPGA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Halbach Quentin</dc:creator>
  <cp:lastModifiedBy>Halbach Quentin</cp:lastModifiedBy>
  <cp:revision>6</cp:revision>
  <dcterms:created xsi:type="dcterms:W3CDTF">2025-06-09T13:01:44Z</dcterms:created>
  <dcterms:modified xsi:type="dcterms:W3CDTF">2025-08-04T19:26:25Z</dcterms:modified>
</cp:coreProperties>
</file>